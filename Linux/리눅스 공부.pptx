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32" autoAdjust="0"/>
  </p:normalViewPr>
  <p:slideViewPr>
    <p:cSldViewPr snapToGrid="0">
      <p:cViewPr varScale="1">
        <p:scale>
          <a:sx n="60" d="100"/>
          <a:sy n="60" d="100"/>
        </p:scale>
        <p:origin x="96" y="10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06E406-AF6E-738E-A9A4-608D797439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B6F145C-2EF4-0753-13BF-3B4ED4E8A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615FE0-8FB7-5C85-08A2-9F6F81FDD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AFC062F-CF54-A173-FA33-3A96BC669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22155F-3EB8-4FFF-8C72-05EA98DB9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7144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763233-C232-CED5-8CD9-1BFAE3C7C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8FA7AD-78EF-85CC-5020-EC1A726A2C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823ECF-38C7-870C-D7CF-EBB787604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BC0342-AEAE-84D7-1B9C-E504FA3D7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9C620FB-0BCB-6C05-7F2B-CCF29EF95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2628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E1141C-3A15-1C70-AF84-2D96F2C31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C7E211-F8D5-F115-3CA6-0D82346742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E0E82E-76FD-783E-62C9-22C76293A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04B2D4-442B-55CE-6467-997EB8A3A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1B35A7-4C94-4DBF-C8E9-AF49BFFD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9314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E09B59-415E-2253-9B8F-915AC52FA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668565-18B2-59E3-890C-2CB21BDF5B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142D506-8F38-A054-80F1-4D0423E464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D7B413-4FEF-A6D3-A83C-D0E7738DA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4ECDA8-5DCF-7262-C032-D39984712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8C7873E-2BC0-56D4-16B7-9AE75FBD9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59064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A8A316-C680-0487-F6B5-FBEA22A8C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411C6B-2C1F-B852-3A5D-E7B1E32E5C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F81D037-BAB8-44C7-5F32-B56DA54D08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E836754-F79A-4ED8-2870-7475A7122B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D883AE3-6AC0-408E-775B-7F3FD45E51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923AFF-6D72-971D-B9AA-903D661B2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055F33-4F4E-4826-3B05-04C993D2A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0E82328-821F-DA53-ECBA-F0391E40C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0730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3F4D19-5FDF-16EF-1320-8131EDA98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58369FA-F14B-E62D-A6B7-FBC1ACDAE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C5CD67E-9DA5-12D3-3B2F-47342FED5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105F8B5-675B-2DED-4B06-D57D61C32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1516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B14E041-7EE1-02F7-3D09-8782972FF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4FD7A49-970A-9B78-D4E7-FFEA56681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86E337-C463-916A-3EA9-DA6F883DC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0378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9FFC1A-0CD8-DC1D-1D5F-12144B465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4EBACE-8969-02EA-34B0-BFDF650B9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3BA15C5-51EB-9037-05DC-88088BEDC6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B0685E8-CA8C-B160-B6A5-2569296AB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EFCAF9E-B040-903B-D791-6351065C1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6BE7639-5463-DF06-181E-B72A87520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0242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2E9678-DEEA-CB28-A3DA-F8791D705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016F149-E6EB-228F-006B-F3F12998F8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A7C2CB5-3007-7B69-0998-70E9B1936D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381C1AE-9ABB-F58C-D854-A7FCAFAAC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C81C8F0-E44C-94AF-56E1-0BCC46EC6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94982C-B1AD-B196-F4FF-572EF769B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15840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650884-BDE1-C07E-D9B9-F1B932C17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EB802F6-0C34-9D49-5652-1CCA7D3A18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02E22B-A10D-5754-2F82-C811A86F0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2337BF-7BAC-E798-51CB-B5A60CA7E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AF232A-D056-BDF9-CFE5-F0D027544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31269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F67DD28-0A32-CC60-7B0B-7650A63977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F9B307-2B53-6263-3ACC-B5EC08F26C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3E710B-51F1-C1B2-FFCA-F5F7A5B9F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7F6DEC-2755-4B4E-A6F3-F8AD3BDAC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F8F4C2B-266C-72C4-AB13-5236848D4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5849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C617600-1DA0-038B-9537-75851E1C7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550EE08-F159-6F9D-AC83-D4F1DDF68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EFD239-6659-4161-5869-27EEDD2320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E28559-68A3-427A-B0AE-52D324B66369}" type="datetimeFigureOut">
              <a:rPr lang="ko-KR" altLang="en-US" smtClean="0"/>
              <a:t>2026-07-19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C8E499-D0CA-675C-DFF5-E8145FD462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049727-26DC-4E5A-D197-8DE5C2EFC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080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6395F9C-5756-240A-0C77-2E0F9F0BCC85}"/>
              </a:ext>
            </a:extLst>
          </p:cNvPr>
          <p:cNvSpPr txBox="1"/>
          <p:nvPr/>
        </p:nvSpPr>
        <p:spPr>
          <a:xfrm>
            <a:off x="3048000" y="1720840"/>
            <a:ext cx="60960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pwd:</a:t>
            </a:r>
            <a:r>
              <a:rPr lang="ko-KR" altLang="en-US"/>
              <a:t> 현재 내 위치 확인</a:t>
            </a:r>
            <a:endParaRPr lang="en-US" altLang="ko-KR"/>
          </a:p>
          <a:p>
            <a:pPr algn="ctr"/>
            <a:r>
              <a:rPr lang="en-US" altLang="ko-KR"/>
              <a:t>ls: </a:t>
            </a:r>
            <a:r>
              <a:rPr lang="ko-KR" altLang="en-US"/>
              <a:t>현재 폴더에 있는 파일과 폴더 확인</a:t>
            </a:r>
            <a:endParaRPr lang="en-US" altLang="ko-KR"/>
          </a:p>
          <a:p>
            <a:pPr algn="ctr"/>
            <a:r>
              <a:rPr lang="en-US" altLang="ko-KR"/>
              <a:t>mkdir my-first-study: </a:t>
            </a:r>
            <a:r>
              <a:rPr lang="ko-KR" altLang="en-US"/>
              <a:t>폴더 생성</a:t>
            </a:r>
            <a:endParaRPr lang="en-US" altLang="ko-KR"/>
          </a:p>
          <a:p>
            <a:pPr algn="ctr"/>
            <a:r>
              <a:rPr lang="en-US" altLang="ko-KR"/>
              <a:t>cd my-first-study: </a:t>
            </a:r>
            <a:r>
              <a:rPr lang="ko-KR" altLang="en-US"/>
              <a:t>폴더 이동</a:t>
            </a:r>
            <a:endParaRPr lang="en-US" altLang="ko-KR"/>
          </a:p>
          <a:p>
            <a:pPr algn="ctr"/>
            <a:r>
              <a:rPr lang="en-US" altLang="ko-KR"/>
              <a:t>touch hello.txt: </a:t>
            </a:r>
            <a:r>
              <a:rPr lang="ko-KR" altLang="en-US"/>
              <a:t>파일 생성</a:t>
            </a:r>
            <a:r>
              <a:rPr lang="en-US" altLang="ko-KR"/>
              <a:t> </a:t>
            </a:r>
          </a:p>
          <a:p>
            <a:pPr algn="ctr"/>
            <a:endParaRPr lang="en-US" altLang="ko-KR"/>
          </a:p>
          <a:p>
            <a:pPr algn="ctr"/>
            <a:r>
              <a:rPr lang="en-US" altLang="ko-KR"/>
              <a:t>vi hello.txt (</a:t>
            </a:r>
            <a:r>
              <a:rPr lang="ko-KR" altLang="en-US"/>
              <a:t>텍스트 편집 모드</a:t>
            </a:r>
            <a:r>
              <a:rPr lang="en-US" altLang="ko-KR"/>
              <a:t>)</a:t>
            </a:r>
          </a:p>
          <a:p>
            <a:pPr algn="ctr"/>
            <a:r>
              <a:rPr lang="en-US" altLang="ko-KR"/>
              <a:t>i </a:t>
            </a:r>
            <a:r>
              <a:rPr lang="ko-KR" altLang="en-US"/>
              <a:t>누르면 </a:t>
            </a:r>
            <a:r>
              <a:rPr lang="en-US" altLang="ko-KR"/>
              <a:t>insert </a:t>
            </a:r>
            <a:r>
              <a:rPr lang="ko-KR" altLang="en-US"/>
              <a:t>모드로 변경 </a:t>
            </a:r>
            <a:r>
              <a:rPr lang="en-US" altLang="ko-KR"/>
              <a:t>(</a:t>
            </a:r>
            <a:r>
              <a:rPr lang="ko-KR" altLang="en-US"/>
              <a:t>처음볼 때는 보기 모드다</a:t>
            </a:r>
            <a:r>
              <a:rPr lang="en-US" altLang="ko-KR"/>
              <a:t>.)</a:t>
            </a:r>
          </a:p>
          <a:p>
            <a:pPr algn="ctr"/>
            <a:r>
              <a:rPr lang="en-US" altLang="ko-KR"/>
              <a:t>ESC </a:t>
            </a:r>
            <a:r>
              <a:rPr lang="ko-KR" altLang="en-US"/>
              <a:t>키 누르고 입력 종료</a:t>
            </a:r>
            <a:endParaRPr lang="en-US" altLang="ko-KR"/>
          </a:p>
          <a:p>
            <a:pPr algn="ctr"/>
            <a:r>
              <a:rPr lang="en-US" altLang="ko-KR"/>
              <a:t>:wq </a:t>
            </a:r>
            <a:r>
              <a:rPr lang="ko-KR" altLang="en-US"/>
              <a:t>입력 후 </a:t>
            </a:r>
            <a:r>
              <a:rPr lang="en-US" altLang="ko-KR"/>
              <a:t>enter </a:t>
            </a:r>
            <a:r>
              <a:rPr lang="ko-KR" altLang="en-US"/>
              <a:t>입력</a:t>
            </a:r>
            <a:endParaRPr lang="en-US" altLang="ko-KR"/>
          </a:p>
          <a:p>
            <a:pPr algn="ctr"/>
            <a:endParaRPr lang="en-US" altLang="ko-KR"/>
          </a:p>
          <a:p>
            <a:pPr algn="ctr"/>
            <a:r>
              <a:rPr lang="en-US" altLang="ko-KR"/>
              <a:t>cat</a:t>
            </a:r>
            <a:r>
              <a:rPr lang="ko-KR" altLang="en-US"/>
              <a:t> </a:t>
            </a:r>
            <a:r>
              <a:rPr lang="en-US" altLang="ko-KR"/>
              <a:t>hello.txt</a:t>
            </a:r>
            <a:r>
              <a:rPr lang="ko-KR" altLang="en-US"/>
              <a:t> </a:t>
            </a:r>
            <a:r>
              <a:rPr lang="en-US" altLang="ko-KR"/>
              <a:t>(</a:t>
            </a:r>
            <a:r>
              <a:rPr lang="ko-KR" altLang="en-US"/>
              <a:t>파일 내용 확인</a:t>
            </a:r>
            <a:r>
              <a:rPr lang="en-US" altLang="ko-KR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218791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BBD1F-D708-43DC-7C8A-5B21A4884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ED73E25-AB90-7DD7-632C-49E046D7F6ED}"/>
              </a:ext>
            </a:extLst>
          </p:cNvPr>
          <p:cNvSpPr txBox="1"/>
          <p:nvPr/>
        </p:nvSpPr>
        <p:spPr>
          <a:xfrm>
            <a:off x="0" y="12680"/>
            <a:ext cx="12192000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top: </a:t>
            </a:r>
            <a:r>
              <a:rPr lang="ko-KR" altLang="en-US"/>
              <a:t>리눅스에서 어떤 프로그램이 </a:t>
            </a:r>
            <a:r>
              <a:rPr lang="en-US" altLang="ko-KR"/>
              <a:t>CPU</a:t>
            </a:r>
            <a:r>
              <a:rPr lang="ko-KR" altLang="en-US"/>
              <a:t>를 얼마나 쓰고 있는지 알려주는 명령어 </a:t>
            </a:r>
            <a:r>
              <a:rPr lang="en-US" altLang="ko-KR"/>
              <a:t>(</a:t>
            </a:r>
            <a:r>
              <a:rPr lang="ko-KR" altLang="en-US"/>
              <a:t>나갈 때 </a:t>
            </a:r>
            <a:r>
              <a:rPr lang="en-US" altLang="ko-KR"/>
              <a:t>q </a:t>
            </a:r>
            <a:r>
              <a:rPr lang="ko-KR" altLang="en-US"/>
              <a:t>입력</a:t>
            </a:r>
            <a:r>
              <a:rPr lang="en-US" altLang="ko-KR"/>
              <a:t>)</a:t>
            </a:r>
          </a:p>
          <a:p>
            <a:endParaRPr lang="en-US" altLang="ko-KR"/>
          </a:p>
          <a:p>
            <a:r>
              <a:rPr lang="en-US" altLang="ko-KR"/>
              <a:t>top - 20:15:45 up 16 min, 1 user, load average: 0.00, 0.01, 0.02</a:t>
            </a:r>
          </a:p>
          <a:p>
            <a:r>
              <a:rPr lang="en-US" altLang="ko-KR"/>
              <a:t>(up 16 min, </a:t>
            </a:r>
            <a:r>
              <a:rPr lang="ko-KR" altLang="en-US"/>
              <a:t>서버 켜진 지 </a:t>
            </a:r>
            <a:r>
              <a:rPr lang="en-US" altLang="ko-KR"/>
              <a:t>16</a:t>
            </a:r>
            <a:r>
              <a:rPr lang="ko-KR" altLang="en-US"/>
              <a:t>분 됐다는 뜻</a:t>
            </a:r>
            <a:r>
              <a:rPr lang="en-US" altLang="ko-KR"/>
              <a:t>)</a:t>
            </a:r>
          </a:p>
          <a:p>
            <a:r>
              <a:rPr lang="en-US" altLang="ko-KR"/>
              <a:t>(load average, CPU</a:t>
            </a:r>
            <a:r>
              <a:rPr lang="ko-KR" altLang="en-US"/>
              <a:t>가 처리해주기를 기다리는 프로세스의 개수</a:t>
            </a:r>
            <a:endParaRPr lang="en-US" altLang="ko-KR"/>
          </a:p>
          <a:p>
            <a:r>
              <a:rPr lang="en-US" altLang="ko-KR"/>
              <a:t>1</a:t>
            </a:r>
            <a:r>
              <a:rPr lang="ko-KR" altLang="en-US"/>
              <a:t>분전</a:t>
            </a:r>
            <a:r>
              <a:rPr lang="en-US" altLang="ko-KR"/>
              <a:t>, 5</a:t>
            </a:r>
            <a:r>
              <a:rPr lang="ko-KR" altLang="en-US"/>
              <a:t>분전</a:t>
            </a:r>
            <a:r>
              <a:rPr lang="en-US" altLang="ko-KR"/>
              <a:t>, 15</a:t>
            </a:r>
            <a:r>
              <a:rPr lang="ko-KR" altLang="en-US"/>
              <a:t>분전을 의미한다</a:t>
            </a:r>
            <a:r>
              <a:rPr lang="en-US" altLang="ko-KR"/>
              <a:t>.)</a:t>
            </a:r>
          </a:p>
          <a:p>
            <a:endParaRPr lang="en-US" altLang="ko-KR"/>
          </a:p>
          <a:p>
            <a:r>
              <a:rPr lang="en-US" altLang="ko-KR"/>
              <a:t>%Cpu(s):  0.0 us,  0.0 sy,  0.0 ni,100.0 id,  0.0 wa,  0.0 hi,  0.0 si,  0.0 st</a:t>
            </a:r>
          </a:p>
          <a:p>
            <a:endParaRPr lang="en-US" altLang="ko-KR"/>
          </a:p>
          <a:p>
            <a:r>
              <a:rPr lang="en-US" altLang="ko-KR"/>
              <a:t>us (user): </a:t>
            </a:r>
            <a:r>
              <a:rPr lang="ko-KR" altLang="en-US"/>
              <a:t>사용자가 실행한 프로그램이 </a:t>
            </a:r>
            <a:r>
              <a:rPr lang="en-US" altLang="ko-KR"/>
              <a:t>CPU</a:t>
            </a:r>
            <a:r>
              <a:rPr lang="ko-KR" altLang="en-US"/>
              <a:t>를 얼마나 쓰는지</a:t>
            </a:r>
            <a:r>
              <a:rPr lang="en-US" altLang="ko-KR"/>
              <a:t>.</a:t>
            </a:r>
          </a:p>
          <a:p>
            <a:r>
              <a:rPr lang="en-US" altLang="ko-KR"/>
              <a:t>sy (system): </a:t>
            </a:r>
            <a:r>
              <a:rPr lang="ko-KR" altLang="en-US"/>
              <a:t>리눅스 커널</a:t>
            </a:r>
            <a:r>
              <a:rPr lang="en-US" altLang="ko-KR"/>
              <a:t>(</a:t>
            </a:r>
            <a:r>
              <a:rPr lang="ko-KR" altLang="en-US"/>
              <a:t>운영체제 핵심</a:t>
            </a:r>
            <a:r>
              <a:rPr lang="en-US" altLang="ko-KR"/>
              <a:t>)</a:t>
            </a:r>
            <a:r>
              <a:rPr lang="ko-KR" altLang="en-US"/>
              <a:t>이 시스템 유지보수를 위해 얼마나 쓰는지</a:t>
            </a:r>
            <a:r>
              <a:rPr lang="en-US" altLang="ko-KR"/>
              <a:t>.</a:t>
            </a:r>
          </a:p>
          <a:p>
            <a:r>
              <a:rPr lang="en-US" altLang="ko-KR"/>
              <a:t>id (idle, 100.0): </a:t>
            </a:r>
            <a:r>
              <a:rPr lang="ko-KR" altLang="en-US"/>
              <a:t>가장 중요한 지표</a:t>
            </a:r>
            <a:r>
              <a:rPr lang="en-US" altLang="ko-KR"/>
              <a:t>! CPU</a:t>
            </a:r>
            <a:r>
              <a:rPr lang="ko-KR" altLang="en-US"/>
              <a:t>가 </a:t>
            </a:r>
            <a:r>
              <a:rPr lang="en-US" altLang="ko-KR"/>
              <a:t>100% </a:t>
            </a:r>
            <a:r>
              <a:rPr lang="ko-KR" altLang="en-US"/>
              <a:t>아무것도 안 하고 놀고 있다는 뜻이야</a:t>
            </a:r>
            <a:r>
              <a:rPr lang="en-US" altLang="ko-KR"/>
              <a:t>. </a:t>
            </a:r>
          </a:p>
          <a:p>
            <a:r>
              <a:rPr lang="ko-KR" altLang="en-US"/>
              <a:t>서버가 엄청나게 한가하다는 증거지</a:t>
            </a:r>
            <a:r>
              <a:rPr lang="en-US" altLang="ko-KR"/>
              <a:t>!</a:t>
            </a:r>
          </a:p>
          <a:p>
            <a:r>
              <a:rPr lang="en-US" altLang="ko-KR"/>
              <a:t>wa (wait): CPU</a:t>
            </a:r>
            <a:r>
              <a:rPr lang="ko-KR" altLang="en-US"/>
              <a:t>가 일을 하고 싶어도 </a:t>
            </a:r>
            <a:r>
              <a:rPr lang="en-US" altLang="ko-KR"/>
              <a:t>'</a:t>
            </a:r>
            <a:r>
              <a:rPr lang="ko-KR" altLang="en-US"/>
              <a:t>디스크</a:t>
            </a:r>
            <a:r>
              <a:rPr lang="en-US" altLang="ko-KR"/>
              <a:t>(SSD/HDD)</a:t>
            </a:r>
            <a:r>
              <a:rPr lang="ko-KR" altLang="en-US"/>
              <a:t>에서 데이터를 가져오느라</a:t>
            </a:r>
            <a:r>
              <a:rPr lang="en-US" altLang="ko-KR"/>
              <a:t>' </a:t>
            </a:r>
            <a:r>
              <a:rPr lang="ko-KR" altLang="en-US"/>
              <a:t>기다리는 시간</a:t>
            </a:r>
            <a:r>
              <a:rPr lang="en-US" altLang="ko-KR"/>
              <a:t>. </a:t>
            </a:r>
          </a:p>
          <a:p>
            <a:r>
              <a:rPr lang="ko-KR" altLang="en-US"/>
              <a:t>이게 높으면 서버가 엄청 느려져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/>
              <a:t>ni (nice, 0.0): </a:t>
            </a:r>
            <a:r>
              <a:rPr lang="ko-KR" altLang="en-US"/>
              <a:t>사용자 프로그램 중에서 </a:t>
            </a:r>
            <a:r>
              <a:rPr lang="en-US" altLang="ko-KR"/>
              <a:t>'</a:t>
            </a:r>
            <a:r>
              <a:rPr lang="ko-KR" altLang="en-US"/>
              <a:t>우선순위</a:t>
            </a:r>
            <a:r>
              <a:rPr lang="en-US" altLang="ko-KR"/>
              <a:t>(Nice</a:t>
            </a:r>
            <a:r>
              <a:rPr lang="ko-KR" altLang="en-US"/>
              <a:t>값</a:t>
            </a:r>
            <a:r>
              <a:rPr lang="en-US" altLang="ko-KR"/>
              <a:t>)'</a:t>
            </a:r>
            <a:r>
              <a:rPr lang="ko-KR" altLang="en-US"/>
              <a:t>가 조정된 프로그램이 사용하는 시간이야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/>
              <a:t>hi (hardware interrupt, 0.0): </a:t>
            </a:r>
            <a:r>
              <a:rPr lang="ko-KR" altLang="en-US"/>
              <a:t>하드웨어 장치</a:t>
            </a:r>
            <a:r>
              <a:rPr lang="en-US" altLang="ko-KR"/>
              <a:t>(</a:t>
            </a:r>
            <a:r>
              <a:rPr lang="ko-KR" altLang="en-US"/>
              <a:t>마우스</a:t>
            </a:r>
            <a:r>
              <a:rPr lang="en-US" altLang="ko-KR"/>
              <a:t>, </a:t>
            </a:r>
            <a:r>
              <a:rPr lang="ko-KR" altLang="en-US"/>
              <a:t>키보드</a:t>
            </a:r>
            <a:r>
              <a:rPr lang="en-US" altLang="ko-KR"/>
              <a:t>, </a:t>
            </a:r>
            <a:r>
              <a:rPr lang="ko-KR" altLang="en-US"/>
              <a:t>네트워크 카드 등</a:t>
            </a:r>
            <a:r>
              <a:rPr lang="en-US" altLang="ko-KR"/>
              <a:t>)</a:t>
            </a:r>
            <a:r>
              <a:rPr lang="ko-KR" altLang="en-US"/>
              <a:t>가 </a:t>
            </a:r>
            <a:endParaRPr lang="en-US" altLang="ko-KR"/>
          </a:p>
          <a:p>
            <a:r>
              <a:rPr lang="en-US" altLang="ko-KR"/>
              <a:t>CPU</a:t>
            </a:r>
            <a:r>
              <a:rPr lang="ko-KR" altLang="en-US"/>
              <a:t>에 </a:t>
            </a:r>
            <a:r>
              <a:rPr lang="en-US" altLang="ko-KR"/>
              <a:t>"</a:t>
            </a:r>
            <a:r>
              <a:rPr lang="ko-KR" altLang="en-US"/>
              <a:t>나 일 좀 봐줘</a:t>
            </a:r>
            <a:r>
              <a:rPr lang="en-US" altLang="ko-KR"/>
              <a:t>!"</a:t>
            </a:r>
            <a:r>
              <a:rPr lang="ko-KR" altLang="en-US"/>
              <a:t>라고 긴급 호출하는 시간이야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/>
              <a:t>si (software interrupt, 0.0): </a:t>
            </a:r>
            <a:r>
              <a:rPr lang="ko-KR" altLang="en-US"/>
              <a:t>소프트웨어적으로 발생하는 인터럽트 처리 시간이야</a:t>
            </a:r>
            <a:r>
              <a:rPr lang="en-US" altLang="ko-KR"/>
              <a:t>. </a:t>
            </a:r>
          </a:p>
          <a:p>
            <a:r>
              <a:rPr lang="en-US" altLang="ko-KR"/>
              <a:t>(</a:t>
            </a:r>
            <a:r>
              <a:rPr lang="ko-KR" altLang="en-US"/>
              <a:t>주로 네트워크 패킷을 대량으로 처리할 때 올라가</a:t>
            </a:r>
            <a:r>
              <a:rPr lang="en-US" altLang="ko-KR"/>
              <a:t>.)</a:t>
            </a:r>
          </a:p>
        </p:txBody>
      </p:sp>
    </p:spTree>
    <p:extLst>
      <p:ext uri="{BB962C8B-B14F-4D97-AF65-F5344CB8AC3E}">
        <p14:creationId xmlns:p14="http://schemas.microsoft.com/office/powerpoint/2010/main" val="4494052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A1208-377B-79F8-D13F-AD6830D8C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EFD7AB9-E649-31F0-200D-06145809FA66}"/>
              </a:ext>
            </a:extLst>
          </p:cNvPr>
          <p:cNvSpPr txBox="1"/>
          <p:nvPr/>
        </p:nvSpPr>
        <p:spPr>
          <a:xfrm>
            <a:off x="0" y="12680"/>
            <a:ext cx="12192000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st (steal, 0.0): </a:t>
            </a:r>
            <a:r>
              <a:rPr lang="ko-KR" altLang="en-US"/>
              <a:t>클라우드 환경에서만 나오는 아주 중요한 지표야</a:t>
            </a:r>
            <a:r>
              <a:rPr lang="en-US" altLang="ko-KR"/>
              <a:t>. </a:t>
            </a:r>
            <a:r>
              <a:rPr lang="ko-KR" altLang="en-US"/>
              <a:t>가상 머신</a:t>
            </a:r>
            <a:r>
              <a:rPr lang="en-US" altLang="ko-KR"/>
              <a:t>(VM)</a:t>
            </a:r>
            <a:r>
              <a:rPr lang="ko-KR" altLang="en-US"/>
              <a:t>을 빌려 쓰고 있다면</a:t>
            </a:r>
            <a:r>
              <a:rPr lang="en-US" altLang="ko-KR"/>
              <a:t>, </a:t>
            </a:r>
          </a:p>
          <a:p>
            <a:r>
              <a:rPr lang="ko-KR" altLang="en-US"/>
              <a:t>실제 물리 서버의 </a:t>
            </a:r>
            <a:r>
              <a:rPr lang="en-US" altLang="ko-KR"/>
              <a:t>CPU</a:t>
            </a:r>
            <a:r>
              <a:rPr lang="ko-KR" altLang="en-US"/>
              <a:t>를 다른 가상 머신이 채가서 내가 써야 할 </a:t>
            </a:r>
            <a:r>
              <a:rPr lang="en-US" altLang="ko-KR"/>
              <a:t>CPU</a:t>
            </a:r>
            <a:r>
              <a:rPr lang="ko-KR" altLang="en-US"/>
              <a:t>를 못 쓰고 빼앗긴 시간이야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이게 높으면 </a:t>
            </a:r>
            <a:r>
              <a:rPr lang="en-US" altLang="ko-KR"/>
              <a:t>"</a:t>
            </a:r>
            <a:r>
              <a:rPr lang="ko-KR" altLang="en-US"/>
              <a:t>클라우드 서비스 제공자</a:t>
            </a:r>
            <a:r>
              <a:rPr lang="en-US" altLang="ko-KR"/>
              <a:t>(AWS, GCP </a:t>
            </a:r>
            <a:r>
              <a:rPr lang="ko-KR" altLang="en-US"/>
              <a:t>등</a:t>
            </a:r>
            <a:r>
              <a:rPr lang="en-US" altLang="ko-KR"/>
              <a:t>)</a:t>
            </a:r>
            <a:r>
              <a:rPr lang="ko-KR" altLang="en-US"/>
              <a:t>가 </a:t>
            </a:r>
            <a:r>
              <a:rPr lang="en-US" altLang="ko-KR"/>
              <a:t>CPU </a:t>
            </a:r>
            <a:r>
              <a:rPr lang="ko-KR" altLang="en-US"/>
              <a:t>자원을 충분히 안 주고 있다</a:t>
            </a:r>
            <a:r>
              <a:rPr lang="en-US" altLang="ko-KR"/>
              <a:t>"</a:t>
            </a:r>
            <a:r>
              <a:rPr lang="ko-KR" altLang="en-US"/>
              <a:t>는 뜻이라</a:t>
            </a:r>
            <a:r>
              <a:rPr lang="en-US" altLang="ko-KR"/>
              <a:t>, </a:t>
            </a:r>
          </a:p>
          <a:p>
            <a:r>
              <a:rPr lang="ko-KR" altLang="en-US"/>
              <a:t>엔지니어가 클라우드 업체에 항의하거나 서버 사양을 높여야 해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/>
              <a:t>MiB Mem : 3760.2 total, 3225.4 free, 379.6 used, 155.2 buff/cache</a:t>
            </a:r>
          </a:p>
          <a:p>
            <a:endParaRPr lang="en-US" altLang="ko-KR"/>
          </a:p>
          <a:p>
            <a:r>
              <a:rPr lang="en-US" altLang="ko-KR"/>
              <a:t>total: </a:t>
            </a:r>
            <a:r>
              <a:rPr lang="ko-KR" altLang="en-US"/>
              <a:t>전체 램 용량</a:t>
            </a:r>
            <a:r>
              <a:rPr lang="en-US" altLang="ko-KR"/>
              <a:t>(</a:t>
            </a:r>
            <a:r>
              <a:rPr lang="ko-KR" altLang="en-US"/>
              <a:t>약 </a:t>
            </a:r>
            <a:r>
              <a:rPr lang="en-US" altLang="ko-KR"/>
              <a:t>3.7GB).</a:t>
            </a:r>
          </a:p>
          <a:p>
            <a:endParaRPr lang="en-US" altLang="ko-KR"/>
          </a:p>
          <a:p>
            <a:r>
              <a:rPr lang="en-US" altLang="ko-KR"/>
              <a:t>free: </a:t>
            </a:r>
            <a:r>
              <a:rPr lang="ko-KR" altLang="en-US"/>
              <a:t>완전히 비어있는 램</a:t>
            </a:r>
            <a:r>
              <a:rPr lang="en-US" altLang="ko-KR"/>
              <a:t>(</a:t>
            </a:r>
            <a:r>
              <a:rPr lang="ko-KR" altLang="en-US"/>
              <a:t>약 </a:t>
            </a:r>
            <a:r>
              <a:rPr lang="en-US" altLang="ko-KR"/>
              <a:t>3.2GB).</a:t>
            </a:r>
          </a:p>
          <a:p>
            <a:endParaRPr lang="en-US" altLang="ko-KR"/>
          </a:p>
          <a:p>
            <a:r>
              <a:rPr lang="en-US" altLang="ko-KR"/>
              <a:t>used: </a:t>
            </a:r>
            <a:r>
              <a:rPr lang="ko-KR" altLang="en-US"/>
              <a:t>현재 프로그램들이 쓰고 있는 램</a:t>
            </a:r>
            <a:r>
              <a:rPr lang="en-US" altLang="ko-KR"/>
              <a:t>(</a:t>
            </a:r>
            <a:r>
              <a:rPr lang="ko-KR" altLang="en-US"/>
              <a:t>약 </a:t>
            </a:r>
            <a:r>
              <a:rPr lang="en-US" altLang="ko-KR"/>
              <a:t>0.3GB).</a:t>
            </a:r>
          </a:p>
          <a:p>
            <a:endParaRPr lang="en-US" altLang="ko-KR"/>
          </a:p>
          <a:p>
            <a:r>
              <a:rPr lang="en-US" altLang="ko-KR"/>
              <a:t>buff/cache: </a:t>
            </a:r>
            <a:r>
              <a:rPr lang="ko-KR" altLang="en-US"/>
              <a:t>리눅스가 속도를 높이려고 임시로 데이터를 올려둔 공간</a:t>
            </a:r>
            <a:r>
              <a:rPr lang="en-US" altLang="ko-KR"/>
              <a:t>. </a:t>
            </a:r>
          </a:p>
          <a:p>
            <a:r>
              <a:rPr lang="ko-KR" altLang="en-US"/>
              <a:t>나중에 램이 부족해지면 이쪽은 자동으로 삭제해서 자리를 마련해주니까</a:t>
            </a:r>
            <a:r>
              <a:rPr lang="en-US" altLang="ko-KR"/>
              <a:t>, </a:t>
            </a:r>
            <a:r>
              <a:rPr lang="ko-KR" altLang="en-US"/>
              <a:t>걱정할 필요 없어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/>
              <a:t>MiB Swap: 1024.0 total, 1024.0 free, 0.0 used</a:t>
            </a:r>
          </a:p>
          <a:p>
            <a:endParaRPr lang="en-US" altLang="ko-KR"/>
          </a:p>
          <a:p>
            <a:r>
              <a:rPr lang="en-US" altLang="ko-KR"/>
              <a:t>Swap: </a:t>
            </a:r>
            <a:r>
              <a:rPr lang="ko-KR" altLang="en-US"/>
              <a:t>램 용량이 꽉 찼을 때</a:t>
            </a:r>
            <a:r>
              <a:rPr lang="en-US" altLang="ko-KR"/>
              <a:t>, </a:t>
            </a:r>
            <a:r>
              <a:rPr lang="ko-KR" altLang="en-US"/>
              <a:t>어쩔 수 없이 하드디스크의 일부를 램처럼 빌려 쓰는 공간이야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지금 </a:t>
            </a:r>
            <a:r>
              <a:rPr lang="en-US" altLang="ko-KR"/>
              <a:t>0.0 used</a:t>
            </a:r>
            <a:r>
              <a:rPr lang="ko-KR" altLang="en-US"/>
              <a:t>라는 건</a:t>
            </a:r>
            <a:r>
              <a:rPr lang="en-US" altLang="ko-KR"/>
              <a:t>, "</a:t>
            </a:r>
            <a:r>
              <a:rPr lang="ko-KR" altLang="en-US"/>
              <a:t>램이 아주 넉넉해서 하드디스크까지 빌려 쓸 필요가 없다</a:t>
            </a:r>
            <a:r>
              <a:rPr lang="en-US" altLang="ko-KR"/>
              <a:t>"</a:t>
            </a:r>
            <a:r>
              <a:rPr lang="ko-KR" altLang="en-US"/>
              <a:t>는 아주 건강한 상태라는 뜻이야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596092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7976E-2077-0938-70BA-C91C8F2D7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884D018-FBFA-1946-1DFB-C436F58055A6}"/>
              </a:ext>
            </a:extLst>
          </p:cNvPr>
          <p:cNvSpPr txBox="1"/>
          <p:nvPr/>
        </p:nvSpPr>
        <p:spPr>
          <a:xfrm>
            <a:off x="0" y="12680"/>
            <a:ext cx="12192000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st (steal, 0.0): </a:t>
            </a:r>
            <a:r>
              <a:rPr lang="ko-KR" altLang="en-US"/>
              <a:t>클라우드 환경에서만 나오는 아주 중요한 지표야</a:t>
            </a:r>
            <a:r>
              <a:rPr lang="en-US" altLang="ko-KR"/>
              <a:t>. </a:t>
            </a:r>
            <a:r>
              <a:rPr lang="ko-KR" altLang="en-US"/>
              <a:t>가상 머신</a:t>
            </a:r>
            <a:r>
              <a:rPr lang="en-US" altLang="ko-KR"/>
              <a:t>(VM)</a:t>
            </a:r>
            <a:r>
              <a:rPr lang="ko-KR" altLang="en-US"/>
              <a:t>을 빌려 쓰고 있다면</a:t>
            </a:r>
            <a:r>
              <a:rPr lang="en-US" altLang="ko-KR"/>
              <a:t>, </a:t>
            </a:r>
          </a:p>
          <a:p>
            <a:r>
              <a:rPr lang="ko-KR" altLang="en-US"/>
              <a:t>실제 물리 서버의 </a:t>
            </a:r>
            <a:r>
              <a:rPr lang="en-US" altLang="ko-KR"/>
              <a:t>CPU</a:t>
            </a:r>
            <a:r>
              <a:rPr lang="ko-KR" altLang="en-US"/>
              <a:t>를 다른 가상 머신이 채가서 내가 써야 할 </a:t>
            </a:r>
            <a:r>
              <a:rPr lang="en-US" altLang="ko-KR"/>
              <a:t>CPU</a:t>
            </a:r>
            <a:r>
              <a:rPr lang="ko-KR" altLang="en-US"/>
              <a:t>를 못 쓰고 빼앗긴 시간이야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이게 높으면 </a:t>
            </a:r>
            <a:r>
              <a:rPr lang="en-US" altLang="ko-KR"/>
              <a:t>"</a:t>
            </a:r>
            <a:r>
              <a:rPr lang="ko-KR" altLang="en-US"/>
              <a:t>클라우드 서비스 제공자</a:t>
            </a:r>
            <a:r>
              <a:rPr lang="en-US" altLang="ko-KR"/>
              <a:t>(AWS, GCP </a:t>
            </a:r>
            <a:r>
              <a:rPr lang="ko-KR" altLang="en-US"/>
              <a:t>등</a:t>
            </a:r>
            <a:r>
              <a:rPr lang="en-US" altLang="ko-KR"/>
              <a:t>)</a:t>
            </a:r>
            <a:r>
              <a:rPr lang="ko-KR" altLang="en-US"/>
              <a:t>가 </a:t>
            </a:r>
            <a:r>
              <a:rPr lang="en-US" altLang="ko-KR"/>
              <a:t>CPU </a:t>
            </a:r>
            <a:r>
              <a:rPr lang="ko-KR" altLang="en-US"/>
              <a:t>자원을 충분히 안 주고 있다</a:t>
            </a:r>
            <a:r>
              <a:rPr lang="en-US" altLang="ko-KR"/>
              <a:t>"</a:t>
            </a:r>
            <a:r>
              <a:rPr lang="ko-KR" altLang="en-US"/>
              <a:t>는 뜻이라</a:t>
            </a:r>
            <a:r>
              <a:rPr lang="en-US" altLang="ko-KR"/>
              <a:t>, </a:t>
            </a:r>
          </a:p>
          <a:p>
            <a:r>
              <a:rPr lang="ko-KR" altLang="en-US"/>
              <a:t>엔지니어가 클라우드 업체에 항의하거나 서버 사양을 높여야 해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/>
              <a:t>MiB Mem : 3760.2 total, 3225.4 free, 379.6 used, 155.2 buff/cache</a:t>
            </a:r>
          </a:p>
          <a:p>
            <a:endParaRPr lang="en-US" altLang="ko-KR"/>
          </a:p>
          <a:p>
            <a:r>
              <a:rPr lang="en-US" altLang="ko-KR"/>
              <a:t>total: </a:t>
            </a:r>
            <a:r>
              <a:rPr lang="ko-KR" altLang="en-US"/>
              <a:t>전체 램 용량</a:t>
            </a:r>
            <a:r>
              <a:rPr lang="en-US" altLang="ko-KR"/>
              <a:t>(</a:t>
            </a:r>
            <a:r>
              <a:rPr lang="ko-KR" altLang="en-US"/>
              <a:t>약 </a:t>
            </a:r>
            <a:r>
              <a:rPr lang="en-US" altLang="ko-KR"/>
              <a:t>3.7GB).</a:t>
            </a:r>
          </a:p>
          <a:p>
            <a:endParaRPr lang="en-US" altLang="ko-KR"/>
          </a:p>
          <a:p>
            <a:r>
              <a:rPr lang="en-US" altLang="ko-KR"/>
              <a:t>free: </a:t>
            </a:r>
            <a:r>
              <a:rPr lang="ko-KR" altLang="en-US"/>
              <a:t>완전히 비어있는 램</a:t>
            </a:r>
            <a:r>
              <a:rPr lang="en-US" altLang="ko-KR"/>
              <a:t>(</a:t>
            </a:r>
            <a:r>
              <a:rPr lang="ko-KR" altLang="en-US"/>
              <a:t>약 </a:t>
            </a:r>
            <a:r>
              <a:rPr lang="en-US" altLang="ko-KR"/>
              <a:t>3.2GB).</a:t>
            </a:r>
          </a:p>
          <a:p>
            <a:endParaRPr lang="en-US" altLang="ko-KR"/>
          </a:p>
          <a:p>
            <a:r>
              <a:rPr lang="en-US" altLang="ko-KR"/>
              <a:t>used: </a:t>
            </a:r>
            <a:r>
              <a:rPr lang="ko-KR" altLang="en-US"/>
              <a:t>현재 프로그램들이 쓰고 있는 램</a:t>
            </a:r>
            <a:r>
              <a:rPr lang="en-US" altLang="ko-KR"/>
              <a:t>(</a:t>
            </a:r>
            <a:r>
              <a:rPr lang="ko-KR" altLang="en-US"/>
              <a:t>약 </a:t>
            </a:r>
            <a:r>
              <a:rPr lang="en-US" altLang="ko-KR"/>
              <a:t>0.3GB).</a:t>
            </a:r>
          </a:p>
          <a:p>
            <a:endParaRPr lang="en-US" altLang="ko-KR"/>
          </a:p>
          <a:p>
            <a:r>
              <a:rPr lang="en-US" altLang="ko-KR"/>
              <a:t>buff/cache: </a:t>
            </a:r>
            <a:r>
              <a:rPr lang="ko-KR" altLang="en-US"/>
              <a:t>리눅스가 속도를 높이려고 임시로 데이터를 올려둔 공간</a:t>
            </a:r>
            <a:r>
              <a:rPr lang="en-US" altLang="ko-KR"/>
              <a:t>. </a:t>
            </a:r>
          </a:p>
          <a:p>
            <a:r>
              <a:rPr lang="ko-KR" altLang="en-US"/>
              <a:t>나중에 램이 부족해지면 이쪽은 자동으로 삭제해서 자리를 마련해주니까</a:t>
            </a:r>
            <a:r>
              <a:rPr lang="en-US" altLang="ko-KR"/>
              <a:t>, </a:t>
            </a:r>
            <a:r>
              <a:rPr lang="ko-KR" altLang="en-US"/>
              <a:t>걱정할 필요 없어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/>
              <a:t>MiB Swap: 1024.0 total, 1024.0 free, 0.0 used</a:t>
            </a:r>
          </a:p>
          <a:p>
            <a:endParaRPr lang="en-US" altLang="ko-KR"/>
          </a:p>
          <a:p>
            <a:r>
              <a:rPr lang="en-US" altLang="ko-KR"/>
              <a:t>Swap: </a:t>
            </a:r>
            <a:r>
              <a:rPr lang="ko-KR" altLang="en-US"/>
              <a:t>램 용량이 꽉 찼을 때</a:t>
            </a:r>
            <a:r>
              <a:rPr lang="en-US" altLang="ko-KR"/>
              <a:t>, </a:t>
            </a:r>
            <a:r>
              <a:rPr lang="ko-KR" altLang="en-US"/>
              <a:t>어쩔 수 없이 하드디스크의 일부를 램처럼 빌려 쓰는 공간이야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지금 </a:t>
            </a:r>
            <a:r>
              <a:rPr lang="en-US" altLang="ko-KR"/>
              <a:t>0.0 used</a:t>
            </a:r>
            <a:r>
              <a:rPr lang="ko-KR" altLang="en-US"/>
              <a:t>라는 건</a:t>
            </a:r>
            <a:r>
              <a:rPr lang="en-US" altLang="ko-KR"/>
              <a:t>, "</a:t>
            </a:r>
            <a:r>
              <a:rPr lang="ko-KR" altLang="en-US"/>
              <a:t>램이 아주 넉넉해서 하드디스크까지 빌려 쓸 필요가 없다</a:t>
            </a:r>
            <a:r>
              <a:rPr lang="en-US" altLang="ko-KR"/>
              <a:t>"</a:t>
            </a:r>
            <a:r>
              <a:rPr lang="ko-KR" altLang="en-US"/>
              <a:t>는 아주 건강한 상태라는 뜻이야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7301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F84A0-0666-3E7A-EF8F-5BF6A3393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6BA60C4-5E37-623B-2AA9-9A5CEB08BAD6}"/>
              </a:ext>
            </a:extLst>
          </p:cNvPr>
          <p:cNvSpPr txBox="1"/>
          <p:nvPr/>
        </p:nvSpPr>
        <p:spPr>
          <a:xfrm>
            <a:off x="0" y="5121708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PID (process ID), USER</a:t>
            </a:r>
            <a:r>
              <a:rPr lang="ko-KR" altLang="en-US"/>
              <a:t> </a:t>
            </a:r>
            <a:r>
              <a:rPr lang="en-US" altLang="ko-KR"/>
              <a:t>(root</a:t>
            </a:r>
            <a:r>
              <a:rPr lang="ko-KR" altLang="en-US"/>
              <a:t>는 시스템 관리자 계정</a:t>
            </a:r>
            <a:r>
              <a:rPr lang="en-US" altLang="ko-KR"/>
              <a:t>, system+, syslog </a:t>
            </a:r>
            <a:r>
              <a:rPr lang="ko-KR" altLang="en-US"/>
              <a:t>운영체제 기능을 담당하는 전용 계정</a:t>
            </a:r>
            <a:r>
              <a:rPr lang="en-US" altLang="ko-KR"/>
              <a:t>)</a:t>
            </a:r>
          </a:p>
          <a:p>
            <a:r>
              <a:rPr lang="en-US" altLang="ko-KR"/>
              <a:t>COMMAND (</a:t>
            </a:r>
            <a:r>
              <a:rPr lang="ko-KR" altLang="en-US"/>
              <a:t>실행된 프로그램의 이름</a:t>
            </a:r>
            <a:r>
              <a:rPr lang="en-US" altLang="ko-KR"/>
              <a:t>), </a:t>
            </a:r>
          </a:p>
          <a:p>
            <a:r>
              <a:rPr lang="en-US" altLang="ko-KR"/>
              <a:t>VIRT (Virtual Memory), RES(resident Memory, </a:t>
            </a:r>
            <a:r>
              <a:rPr lang="ko-KR" altLang="en-US"/>
              <a:t>실제 </a:t>
            </a:r>
            <a:r>
              <a:rPr lang="en-US" altLang="ko-KR"/>
              <a:t>RAM</a:t>
            </a:r>
            <a:r>
              <a:rPr lang="ko-KR" altLang="en-US"/>
              <a:t>을 차지하는 메모리 크기</a:t>
            </a:r>
            <a:r>
              <a:rPr lang="en-US" altLang="ko-KR"/>
              <a:t>)</a:t>
            </a:r>
          </a:p>
          <a:p>
            <a:r>
              <a:rPr lang="en-US" altLang="ko-KR"/>
              <a:t>SHR (Shared Memory, </a:t>
            </a:r>
            <a:r>
              <a:rPr lang="ko-KR" altLang="en-US"/>
              <a:t>다른 프로그램과 공유해서 쓰는 메모리</a:t>
            </a:r>
            <a:r>
              <a:rPr lang="en-US" altLang="ko-KR"/>
              <a:t>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28612A4-EA8F-0274-7A61-8B9728DC6A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0988" y="158070"/>
            <a:ext cx="7497221" cy="4744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40078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871FEE-7D59-27B2-DEAF-B76B476D79E4}"/>
              </a:ext>
            </a:extLst>
          </p:cNvPr>
          <p:cNvSpPr txBox="1"/>
          <p:nvPr/>
        </p:nvSpPr>
        <p:spPr>
          <a:xfrm>
            <a:off x="0" y="0"/>
            <a:ext cx="119253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PR (Priority) / NI (Nice): 이 작업이 얼마나 중요한지 나타내는 수치야. 숫자가 낮을수록 우선순위가 높아서 CPU를 먼저 선점해. (일반적으로는 20/0으로 다 똑같아.)</a:t>
            </a:r>
          </a:p>
          <a:p>
            <a:endParaRPr lang="ko-KR" altLang="en-US"/>
          </a:p>
          <a:p>
            <a:r>
              <a:rPr lang="ko-KR" altLang="en-US"/>
              <a:t>%CPU: 이 프로세스가 지금 CPU를 얼마나 쓰고 있나?</a:t>
            </a:r>
          </a:p>
          <a:p>
            <a:endParaRPr lang="ko-KR" altLang="en-US"/>
          </a:p>
          <a:p>
            <a:r>
              <a:rPr lang="ko-KR" altLang="en-US"/>
              <a:t>%MEM: 이 프로세스가 전체 램 중 몇 %를 쓰고 있나? (예: snapd가 1.1%로 가장 많이 쓰고 있네.)</a:t>
            </a:r>
          </a:p>
          <a:p>
            <a:endParaRPr lang="ko-KR" altLang="en-US"/>
          </a:p>
          <a:p>
            <a:r>
              <a:rPr lang="ko-KR" altLang="en-US"/>
              <a:t>TIME+: 이 프로그램이 처음 시작된 이후 지금까지 총 몇 초 동안 CPU를 괴롭혔는지 알려주는 '총 업무 시간’이야.</a:t>
            </a:r>
            <a:endParaRPr lang="en-US" altLang="ko-KR"/>
          </a:p>
          <a:p>
            <a:endParaRPr lang="en-US" altLang="ko-KR"/>
          </a:p>
          <a:p>
            <a:r>
              <a:rPr lang="en-US" altLang="ko-KR"/>
              <a:t>S: </a:t>
            </a:r>
            <a:r>
              <a:rPr lang="ko-KR" altLang="en-US"/>
              <a:t>전부 </a:t>
            </a:r>
            <a:r>
              <a:rPr lang="en-US" altLang="ko-KR"/>
              <a:t>sleeping </a:t>
            </a:r>
            <a:r>
              <a:rPr lang="ko-KR" altLang="en-US"/>
              <a:t>상태</a:t>
            </a:r>
            <a:r>
              <a:rPr lang="en-US" altLang="ko-KR"/>
              <a:t>, s</a:t>
            </a:r>
            <a:r>
              <a:rPr lang="ko-KR" altLang="en-US"/>
              <a:t>면 잠자는 중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84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878</Words>
  <Application>Microsoft Office PowerPoint</Application>
  <PresentationFormat>와이드스크린</PresentationFormat>
  <Paragraphs>92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ap ko</dc:creator>
  <cp:lastModifiedBy>ap ko</cp:lastModifiedBy>
  <cp:revision>9</cp:revision>
  <dcterms:created xsi:type="dcterms:W3CDTF">2026-07-09T14:04:26Z</dcterms:created>
  <dcterms:modified xsi:type="dcterms:W3CDTF">2026-07-19T11:36:24Z</dcterms:modified>
</cp:coreProperties>
</file>