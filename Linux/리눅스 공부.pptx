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32" autoAdjust="0"/>
  </p:normalViewPr>
  <p:slideViewPr>
    <p:cSldViewPr snapToGrid="0">
      <p:cViewPr varScale="1">
        <p:scale>
          <a:sx n="60" d="100"/>
          <a:sy n="60" d="100"/>
        </p:scale>
        <p:origin x="96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6E406-AF6E-738E-A9A4-608D7974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6F145C-2EF4-0753-13BF-3B4ED4E8A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15FE0-8FB7-5C85-08A2-9F6F81FD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C062F-CF54-A173-FA33-3A96BC66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22155F-3EB8-4FFF-8C72-05EA98DB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1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63233-C232-CED5-8CD9-1BFAE3C7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FA7AD-78EF-85CC-5020-EC1A726A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23ECF-38C7-870C-D7CF-EBB78760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C0342-AEAE-84D7-1B9C-E504FA3D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620FB-0BCB-6C05-7F2B-CCF29EF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26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1141C-3A15-1C70-AF84-2D96F2C3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C7E211-F8D5-F115-3CA6-0D8234674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0E82E-76FD-783E-62C9-22C76293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4B2D4-442B-55CE-6467-997EB8A3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B35A7-4C94-4DBF-C8E9-AF49BFFD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31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09B59-415E-2253-9B8F-915AC52F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68565-18B2-59E3-890C-2CB21BDF5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2D506-8F38-A054-80F1-4D0423E46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7B413-4FEF-A6D3-A83C-D0E7738D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ECDA8-5DCF-7262-C032-D3998471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C7873E-2BC0-56D4-16B7-9AE75FBD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0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8A316-C680-0487-F6B5-FBEA22A8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411C6B-2C1F-B852-3A5D-E7B1E32E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1D037-BAB8-44C7-5F32-B56DA54D0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836754-F79A-4ED8-2870-7475A712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83AE3-6AC0-408E-775B-7F3FD45E5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23AFF-6D72-971D-B9AA-903D661B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055F33-4F4E-4826-3B05-04C993D2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E82328-821F-DA53-ECBA-F0391E40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7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F4D19-5FDF-16EF-1320-8131EDA9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8369FA-F14B-E62D-A6B7-FBC1ACDA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5CD67E-9DA5-12D3-3B2F-47342FED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05F8B5-675B-2DED-4B06-D57D61C3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5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14E041-7EE1-02F7-3D09-8782972F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FD7A49-970A-9B78-D4E7-FFEA5668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6E337-C463-916A-3EA9-DA6F883D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7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FFC1A-0CD8-DC1D-1D5F-12144B46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EBACE-8969-02EA-34B0-BFDF650B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BA15C5-51EB-9037-05DC-88088BED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685E8-CA8C-B160-B6A5-2569296A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CAF9E-B040-903B-D791-6351065C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E7639-5463-DF06-181E-B72A875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4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E9678-DEEA-CB28-A3DA-F8791D7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16F149-E6EB-228F-006B-F3F12998F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7C2CB5-3007-7B69-0998-70E9B1936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81C1AE-9ABB-F58C-D854-A7FCAFAA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1C8F0-E44C-94AF-56E1-0BCC46EC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94982C-B1AD-B196-F4FF-572EF769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5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50884-BDE1-C07E-D9B9-F1B932C1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802F6-0C34-9D49-5652-1CCA7D3A1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2E22B-A10D-5754-2F82-C811A86F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2337BF-7BAC-E798-51CB-B5A60CA7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AF232A-D056-BDF9-CFE5-F0D02754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67DD28-0A32-CC60-7B0B-7650A6397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F9B307-2B53-6263-3ACC-B5EC08F2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E710B-51F1-C1B2-FFCA-F5F7A5B9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7F6DEC-2755-4B4E-A6F3-F8AD3BDA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F4C2B-266C-72C4-AB13-5236848D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617600-1DA0-038B-9537-75851E1C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EE08-F159-6F9D-AC83-D4F1DDF6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EFD239-6659-4161-5869-27EEDD232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8559-68A3-427A-B0AE-52D324B66369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8E499-D0CA-675C-DFF5-E8145FD46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49727-26DC-4E5A-D197-8DE5C2EFC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08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395F9C-5756-240A-0C77-2E0F9F0BCC85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pwd:</a:t>
            </a:r>
            <a:r>
              <a:rPr lang="ko-KR" altLang="en-US"/>
              <a:t> 현재 내 위치 확인</a:t>
            </a:r>
            <a:endParaRPr lang="en-US" altLang="ko-KR"/>
          </a:p>
          <a:p>
            <a:pPr algn="ctr"/>
            <a:r>
              <a:rPr lang="en-US" altLang="ko-KR"/>
              <a:t>ls: </a:t>
            </a:r>
            <a:r>
              <a:rPr lang="ko-KR" altLang="en-US"/>
              <a:t>현재 폴더에 있는 파일과 폴더 확인</a:t>
            </a:r>
            <a:endParaRPr lang="en-US" altLang="ko-KR"/>
          </a:p>
          <a:p>
            <a:pPr algn="ctr"/>
            <a:r>
              <a:rPr lang="en-US" altLang="ko-KR"/>
              <a:t>mkdir my-first-study: </a:t>
            </a:r>
            <a:r>
              <a:rPr lang="ko-KR" altLang="en-US"/>
              <a:t>폴더 생성</a:t>
            </a:r>
            <a:endParaRPr lang="en-US" altLang="ko-KR"/>
          </a:p>
          <a:p>
            <a:pPr algn="ctr"/>
            <a:r>
              <a:rPr lang="en-US" altLang="ko-KR"/>
              <a:t>cd my-first-study: </a:t>
            </a:r>
            <a:r>
              <a:rPr lang="ko-KR" altLang="en-US"/>
              <a:t>폴더 이동</a:t>
            </a:r>
            <a:endParaRPr lang="en-US" altLang="ko-KR"/>
          </a:p>
          <a:p>
            <a:pPr algn="ctr"/>
            <a:r>
              <a:rPr lang="en-US" altLang="ko-KR"/>
              <a:t>touch hello.txt: </a:t>
            </a:r>
            <a:r>
              <a:rPr lang="ko-KR" altLang="en-US"/>
              <a:t>파일 생성</a:t>
            </a:r>
            <a:r>
              <a:rPr lang="en-US" altLang="ko-KR"/>
              <a:t> </a:t>
            </a:r>
          </a:p>
          <a:p>
            <a:pPr algn="ctr"/>
            <a:endParaRPr lang="en-US" altLang="ko-KR"/>
          </a:p>
          <a:p>
            <a:pPr algn="ctr"/>
            <a:r>
              <a:rPr lang="en-US" altLang="ko-KR"/>
              <a:t>vi hello.txt (</a:t>
            </a:r>
            <a:r>
              <a:rPr lang="ko-KR" altLang="en-US"/>
              <a:t>텍스트 편집 모드</a:t>
            </a:r>
            <a:r>
              <a:rPr lang="en-US" altLang="ko-KR"/>
              <a:t>)</a:t>
            </a:r>
          </a:p>
          <a:p>
            <a:pPr algn="ctr"/>
            <a:r>
              <a:rPr lang="en-US" altLang="ko-KR"/>
              <a:t>i </a:t>
            </a:r>
            <a:r>
              <a:rPr lang="ko-KR" altLang="en-US"/>
              <a:t>누르면 </a:t>
            </a:r>
            <a:r>
              <a:rPr lang="en-US" altLang="ko-KR"/>
              <a:t>insert </a:t>
            </a:r>
            <a:r>
              <a:rPr lang="ko-KR" altLang="en-US"/>
              <a:t>모드로 변경 </a:t>
            </a:r>
            <a:r>
              <a:rPr lang="en-US" altLang="ko-KR"/>
              <a:t>(</a:t>
            </a:r>
            <a:r>
              <a:rPr lang="ko-KR" altLang="en-US"/>
              <a:t>처음볼 때는 보기 모드다</a:t>
            </a:r>
            <a:r>
              <a:rPr lang="en-US" altLang="ko-KR"/>
              <a:t>.)</a:t>
            </a:r>
          </a:p>
          <a:p>
            <a:pPr algn="ctr"/>
            <a:r>
              <a:rPr lang="en-US" altLang="ko-KR"/>
              <a:t>ESC </a:t>
            </a:r>
            <a:r>
              <a:rPr lang="ko-KR" altLang="en-US"/>
              <a:t>키 누르고 입력 종료</a:t>
            </a:r>
            <a:endParaRPr lang="en-US" altLang="ko-KR"/>
          </a:p>
          <a:p>
            <a:pPr algn="ctr"/>
            <a:r>
              <a:rPr lang="en-US" altLang="ko-KR"/>
              <a:t>:wq </a:t>
            </a:r>
            <a:r>
              <a:rPr lang="ko-KR" altLang="en-US"/>
              <a:t>입력 후 </a:t>
            </a:r>
            <a:r>
              <a:rPr lang="en-US" altLang="ko-KR"/>
              <a:t>enter </a:t>
            </a:r>
            <a:r>
              <a:rPr lang="ko-KR" altLang="en-US"/>
              <a:t>입력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cat</a:t>
            </a:r>
            <a:r>
              <a:rPr lang="ko-KR" altLang="en-US"/>
              <a:t> </a:t>
            </a:r>
            <a:r>
              <a:rPr lang="en-US" altLang="ko-KR"/>
              <a:t>hello.txt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파일 내용 확인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187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BD1F-D708-43DC-7C8A-5B21A488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D73E25-AB90-7DD7-632C-49E046D7F6ED}"/>
              </a:ext>
            </a:extLst>
          </p:cNvPr>
          <p:cNvSpPr txBox="1"/>
          <p:nvPr/>
        </p:nvSpPr>
        <p:spPr>
          <a:xfrm>
            <a:off x="0" y="12680"/>
            <a:ext cx="1219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top: </a:t>
            </a:r>
            <a:r>
              <a:rPr lang="ko-KR" altLang="en-US"/>
              <a:t>리눅스에서 어떤 프로그램이 </a:t>
            </a:r>
            <a:r>
              <a:rPr lang="en-US" altLang="ko-KR"/>
              <a:t>CPU</a:t>
            </a:r>
            <a:r>
              <a:rPr lang="ko-KR" altLang="en-US"/>
              <a:t>를 얼마나 쓰고 있는지 알려주는 명령어 </a:t>
            </a:r>
            <a:r>
              <a:rPr lang="en-US" altLang="ko-KR"/>
              <a:t>(</a:t>
            </a:r>
            <a:r>
              <a:rPr lang="ko-KR" altLang="en-US"/>
              <a:t>나갈 때 </a:t>
            </a:r>
            <a:r>
              <a:rPr lang="en-US" altLang="ko-KR"/>
              <a:t>q </a:t>
            </a:r>
            <a:r>
              <a:rPr lang="ko-KR" altLang="en-US"/>
              <a:t>입력</a:t>
            </a:r>
            <a:r>
              <a:rPr lang="en-US" altLang="ko-KR"/>
              <a:t>) (</a:t>
            </a:r>
            <a:r>
              <a:rPr lang="ko-KR" altLang="en-US"/>
              <a:t>이건 실시간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top - 20:15:45 up 16 min, 1 user, load average: 0.00, 0.01, 0.02</a:t>
            </a:r>
          </a:p>
          <a:p>
            <a:r>
              <a:rPr lang="en-US" altLang="ko-KR"/>
              <a:t>(up 16 min, </a:t>
            </a:r>
            <a:r>
              <a:rPr lang="ko-KR" altLang="en-US"/>
              <a:t>서버 켜진 지 </a:t>
            </a:r>
            <a:r>
              <a:rPr lang="en-US" altLang="ko-KR"/>
              <a:t>16</a:t>
            </a:r>
            <a:r>
              <a:rPr lang="ko-KR" altLang="en-US"/>
              <a:t>분 됐다는 뜻</a:t>
            </a:r>
            <a:r>
              <a:rPr lang="en-US" altLang="ko-KR"/>
              <a:t>)</a:t>
            </a:r>
          </a:p>
          <a:p>
            <a:r>
              <a:rPr lang="en-US" altLang="ko-KR"/>
              <a:t>(load average, CPU</a:t>
            </a:r>
            <a:r>
              <a:rPr lang="ko-KR" altLang="en-US"/>
              <a:t>가 처리해주기를 기다리는 프로세스의 개수</a:t>
            </a:r>
            <a:endParaRPr lang="en-US" altLang="ko-KR"/>
          </a:p>
          <a:p>
            <a:r>
              <a:rPr lang="en-US" altLang="ko-KR"/>
              <a:t>1</a:t>
            </a:r>
            <a:r>
              <a:rPr lang="ko-KR" altLang="en-US"/>
              <a:t>분전</a:t>
            </a:r>
            <a:r>
              <a:rPr lang="en-US" altLang="ko-KR"/>
              <a:t>, 5</a:t>
            </a:r>
            <a:r>
              <a:rPr lang="ko-KR" altLang="en-US"/>
              <a:t>분전</a:t>
            </a:r>
            <a:r>
              <a:rPr lang="en-US" altLang="ko-KR"/>
              <a:t>, 15</a:t>
            </a:r>
            <a:r>
              <a:rPr lang="ko-KR" altLang="en-US"/>
              <a:t>분전을 의미한다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en-US" altLang="ko-KR"/>
              <a:t>%Cpu(s):  0.0 us,  0.0 sy,  0.0 ni,100.0 id,  0.0 wa,  0.0 hi,  0.0 si,  0.0 st</a:t>
            </a:r>
          </a:p>
          <a:p>
            <a:endParaRPr lang="en-US" altLang="ko-KR"/>
          </a:p>
          <a:p>
            <a:r>
              <a:rPr lang="en-US" altLang="ko-KR"/>
              <a:t>us (user): </a:t>
            </a:r>
            <a:r>
              <a:rPr lang="ko-KR" altLang="en-US"/>
              <a:t>사용자가 실행한 프로그램이 </a:t>
            </a:r>
            <a:r>
              <a:rPr lang="en-US" altLang="ko-KR"/>
              <a:t>CPU</a:t>
            </a:r>
            <a:r>
              <a:rPr lang="ko-KR" altLang="en-US"/>
              <a:t>를 얼마나 쓰는지</a:t>
            </a:r>
            <a:r>
              <a:rPr lang="en-US" altLang="ko-KR"/>
              <a:t>.</a:t>
            </a:r>
          </a:p>
          <a:p>
            <a:r>
              <a:rPr lang="en-US" altLang="ko-KR"/>
              <a:t>sy (system): </a:t>
            </a:r>
            <a:r>
              <a:rPr lang="ko-KR" altLang="en-US"/>
              <a:t>리눅스 커널</a:t>
            </a:r>
            <a:r>
              <a:rPr lang="en-US" altLang="ko-KR"/>
              <a:t>(</a:t>
            </a:r>
            <a:r>
              <a:rPr lang="ko-KR" altLang="en-US"/>
              <a:t>운영체제 핵심</a:t>
            </a:r>
            <a:r>
              <a:rPr lang="en-US" altLang="ko-KR"/>
              <a:t>)</a:t>
            </a:r>
            <a:r>
              <a:rPr lang="ko-KR" altLang="en-US"/>
              <a:t>이 시스템 유지보수를 위해 얼마나 쓰는지</a:t>
            </a:r>
            <a:r>
              <a:rPr lang="en-US" altLang="ko-KR"/>
              <a:t>.</a:t>
            </a:r>
          </a:p>
          <a:p>
            <a:r>
              <a:rPr lang="en-US" altLang="ko-KR"/>
              <a:t>id (idle, 100.0): </a:t>
            </a:r>
            <a:r>
              <a:rPr lang="ko-KR" altLang="en-US"/>
              <a:t>가장 중요한 지표</a:t>
            </a:r>
            <a:r>
              <a:rPr lang="en-US" altLang="ko-KR"/>
              <a:t>! CPU</a:t>
            </a:r>
            <a:r>
              <a:rPr lang="ko-KR" altLang="en-US"/>
              <a:t>가 </a:t>
            </a:r>
            <a:r>
              <a:rPr lang="en-US" altLang="ko-KR"/>
              <a:t>100% </a:t>
            </a:r>
            <a:r>
              <a:rPr lang="ko-KR" altLang="en-US"/>
              <a:t>아무것도 안 하고 놀고 있다는 뜻이야</a:t>
            </a:r>
            <a:r>
              <a:rPr lang="en-US" altLang="ko-KR"/>
              <a:t>. </a:t>
            </a:r>
          </a:p>
          <a:p>
            <a:r>
              <a:rPr lang="ko-KR" altLang="en-US"/>
              <a:t>서버가 엄청나게 한가하다는 증거지</a:t>
            </a:r>
            <a:r>
              <a:rPr lang="en-US" altLang="ko-KR"/>
              <a:t>!</a:t>
            </a:r>
          </a:p>
          <a:p>
            <a:r>
              <a:rPr lang="en-US" altLang="ko-KR"/>
              <a:t>wa (wait): CPU</a:t>
            </a:r>
            <a:r>
              <a:rPr lang="ko-KR" altLang="en-US"/>
              <a:t>가 일을 하고 싶어도 </a:t>
            </a:r>
            <a:r>
              <a:rPr lang="en-US" altLang="ko-KR"/>
              <a:t>'</a:t>
            </a:r>
            <a:r>
              <a:rPr lang="ko-KR" altLang="en-US"/>
              <a:t>디스크</a:t>
            </a:r>
            <a:r>
              <a:rPr lang="en-US" altLang="ko-KR"/>
              <a:t>(SSD/HDD)</a:t>
            </a:r>
            <a:r>
              <a:rPr lang="ko-KR" altLang="en-US"/>
              <a:t>에서 데이터를 가져오느라</a:t>
            </a:r>
            <a:r>
              <a:rPr lang="en-US" altLang="ko-KR"/>
              <a:t>' </a:t>
            </a:r>
            <a:r>
              <a:rPr lang="ko-KR" altLang="en-US"/>
              <a:t>기다리는 시간</a:t>
            </a:r>
            <a:r>
              <a:rPr lang="en-US" altLang="ko-KR"/>
              <a:t>. </a:t>
            </a:r>
          </a:p>
          <a:p>
            <a:r>
              <a:rPr lang="ko-KR" altLang="en-US"/>
              <a:t>이게 높으면 서버가 엄청 느려져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ni (nice, 0.0): </a:t>
            </a:r>
            <a:r>
              <a:rPr lang="ko-KR" altLang="en-US"/>
              <a:t>사용자 프로그램 중에서 </a:t>
            </a:r>
            <a:r>
              <a:rPr lang="en-US" altLang="ko-KR"/>
              <a:t>'</a:t>
            </a:r>
            <a:r>
              <a:rPr lang="ko-KR" altLang="en-US"/>
              <a:t>우선순위</a:t>
            </a:r>
            <a:r>
              <a:rPr lang="en-US" altLang="ko-KR"/>
              <a:t>(Nice</a:t>
            </a:r>
            <a:r>
              <a:rPr lang="ko-KR" altLang="en-US"/>
              <a:t>값</a:t>
            </a:r>
            <a:r>
              <a:rPr lang="en-US" altLang="ko-KR"/>
              <a:t>)'</a:t>
            </a:r>
            <a:r>
              <a:rPr lang="ko-KR" altLang="en-US"/>
              <a:t>가 조정된 프로그램이 사용하는 시간이야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hi (hardware interrupt, 0.0): </a:t>
            </a:r>
            <a:r>
              <a:rPr lang="ko-KR" altLang="en-US"/>
              <a:t>하드웨어 장치</a:t>
            </a:r>
            <a:r>
              <a:rPr lang="en-US" altLang="ko-KR"/>
              <a:t>(</a:t>
            </a:r>
            <a:r>
              <a:rPr lang="ko-KR" altLang="en-US"/>
              <a:t>마우스</a:t>
            </a:r>
            <a:r>
              <a:rPr lang="en-US" altLang="ko-KR"/>
              <a:t>, </a:t>
            </a:r>
            <a:r>
              <a:rPr lang="ko-KR" altLang="en-US"/>
              <a:t>키보드</a:t>
            </a:r>
            <a:r>
              <a:rPr lang="en-US" altLang="ko-KR"/>
              <a:t>, </a:t>
            </a:r>
            <a:r>
              <a:rPr lang="ko-KR" altLang="en-US"/>
              <a:t>네트워크 카드 등</a:t>
            </a:r>
            <a:r>
              <a:rPr lang="en-US" altLang="ko-KR"/>
              <a:t>)</a:t>
            </a:r>
            <a:r>
              <a:rPr lang="ko-KR" altLang="en-US"/>
              <a:t>가 </a:t>
            </a:r>
            <a:endParaRPr lang="en-US" altLang="ko-KR"/>
          </a:p>
          <a:p>
            <a:r>
              <a:rPr lang="en-US" altLang="ko-KR"/>
              <a:t>CPU</a:t>
            </a:r>
            <a:r>
              <a:rPr lang="ko-KR" altLang="en-US"/>
              <a:t>에 </a:t>
            </a:r>
            <a:r>
              <a:rPr lang="en-US" altLang="ko-KR"/>
              <a:t>"</a:t>
            </a:r>
            <a:r>
              <a:rPr lang="ko-KR" altLang="en-US"/>
              <a:t>나 일 좀 봐줘</a:t>
            </a:r>
            <a:r>
              <a:rPr lang="en-US" altLang="ko-KR"/>
              <a:t>!"</a:t>
            </a:r>
            <a:r>
              <a:rPr lang="ko-KR" altLang="en-US"/>
              <a:t>라고 긴급 호출하는 시간이야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si (software interrupt, 0.0): </a:t>
            </a:r>
            <a:r>
              <a:rPr lang="ko-KR" altLang="en-US"/>
              <a:t>소프트웨어적으로 발생하는 인터럽트 처리 시간이야</a:t>
            </a:r>
            <a:r>
              <a:rPr lang="en-US" altLang="ko-KR"/>
              <a:t>. </a:t>
            </a:r>
          </a:p>
          <a:p>
            <a:r>
              <a:rPr lang="en-US" altLang="ko-KR"/>
              <a:t>(</a:t>
            </a:r>
            <a:r>
              <a:rPr lang="ko-KR" altLang="en-US"/>
              <a:t>주로 네트워크 패킷을 대량으로 처리할 때 올라가</a:t>
            </a:r>
            <a:r>
              <a:rPr lang="en-US" altLang="ko-KR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4940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1208-377B-79F8-D13F-AD6830D8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FD7AB9-E649-31F0-200D-06145809FA66}"/>
              </a:ext>
            </a:extLst>
          </p:cNvPr>
          <p:cNvSpPr txBox="1"/>
          <p:nvPr/>
        </p:nvSpPr>
        <p:spPr>
          <a:xfrm>
            <a:off x="0" y="12680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 (steal, 0.0): </a:t>
            </a:r>
            <a:r>
              <a:rPr lang="ko-KR" altLang="en-US"/>
              <a:t>클라우드 환경에서만 나오는 아주 중요한 지표야</a:t>
            </a:r>
            <a:r>
              <a:rPr lang="en-US" altLang="ko-KR"/>
              <a:t>. </a:t>
            </a:r>
            <a:r>
              <a:rPr lang="ko-KR" altLang="en-US"/>
              <a:t>가상 머신</a:t>
            </a:r>
            <a:r>
              <a:rPr lang="en-US" altLang="ko-KR"/>
              <a:t>(VM)</a:t>
            </a:r>
            <a:r>
              <a:rPr lang="ko-KR" altLang="en-US"/>
              <a:t>을 빌려 쓰고 있다면</a:t>
            </a:r>
            <a:r>
              <a:rPr lang="en-US" altLang="ko-KR"/>
              <a:t>, </a:t>
            </a:r>
          </a:p>
          <a:p>
            <a:r>
              <a:rPr lang="ko-KR" altLang="en-US"/>
              <a:t>실제 물리 서버의 </a:t>
            </a:r>
            <a:r>
              <a:rPr lang="en-US" altLang="ko-KR"/>
              <a:t>CPU</a:t>
            </a:r>
            <a:r>
              <a:rPr lang="ko-KR" altLang="en-US"/>
              <a:t>를 다른 가상 머신이 채가서 내가 써야 할 </a:t>
            </a:r>
            <a:r>
              <a:rPr lang="en-US" altLang="ko-KR"/>
              <a:t>CPU</a:t>
            </a:r>
            <a:r>
              <a:rPr lang="ko-KR" altLang="en-US"/>
              <a:t>를 못 쓰고 빼앗긴 시간이야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이게 높으면 </a:t>
            </a:r>
            <a:r>
              <a:rPr lang="en-US" altLang="ko-KR"/>
              <a:t>"</a:t>
            </a:r>
            <a:r>
              <a:rPr lang="ko-KR" altLang="en-US"/>
              <a:t>클라우드 서비스 제공자</a:t>
            </a:r>
            <a:r>
              <a:rPr lang="en-US" altLang="ko-KR"/>
              <a:t>(AWS, GCP </a:t>
            </a:r>
            <a:r>
              <a:rPr lang="ko-KR" altLang="en-US"/>
              <a:t>등</a:t>
            </a:r>
            <a:r>
              <a:rPr lang="en-US" altLang="ko-KR"/>
              <a:t>)</a:t>
            </a:r>
            <a:r>
              <a:rPr lang="ko-KR" altLang="en-US"/>
              <a:t>가 </a:t>
            </a:r>
            <a:r>
              <a:rPr lang="en-US" altLang="ko-KR"/>
              <a:t>CPU </a:t>
            </a:r>
            <a:r>
              <a:rPr lang="ko-KR" altLang="en-US"/>
              <a:t>자원을 충분히 안 주고 있다</a:t>
            </a:r>
            <a:r>
              <a:rPr lang="en-US" altLang="ko-KR"/>
              <a:t>"</a:t>
            </a:r>
            <a:r>
              <a:rPr lang="ko-KR" altLang="en-US"/>
              <a:t>는 뜻이라</a:t>
            </a:r>
            <a:r>
              <a:rPr lang="en-US" altLang="ko-KR"/>
              <a:t>, </a:t>
            </a:r>
          </a:p>
          <a:p>
            <a:r>
              <a:rPr lang="ko-KR" altLang="en-US"/>
              <a:t>엔지니어가 클라우드 업체에 항의하거나 서버 사양을 높여야 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MiB Mem : 3760.2 total, 3225.4 free, 379.6 used, 155.2 buff/cache</a:t>
            </a:r>
          </a:p>
          <a:p>
            <a:endParaRPr lang="en-US" altLang="ko-KR"/>
          </a:p>
          <a:p>
            <a:r>
              <a:rPr lang="en-US" altLang="ko-KR"/>
              <a:t>total: </a:t>
            </a:r>
            <a:r>
              <a:rPr lang="ko-KR" altLang="en-US"/>
              <a:t>전체 램 용량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3.7GB).</a:t>
            </a:r>
          </a:p>
          <a:p>
            <a:endParaRPr lang="en-US" altLang="ko-KR"/>
          </a:p>
          <a:p>
            <a:r>
              <a:rPr lang="en-US" altLang="ko-KR"/>
              <a:t>free: </a:t>
            </a:r>
            <a:r>
              <a:rPr lang="ko-KR" altLang="en-US"/>
              <a:t>완전히 비어있는 램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3.2GB).</a:t>
            </a:r>
          </a:p>
          <a:p>
            <a:endParaRPr lang="en-US" altLang="ko-KR"/>
          </a:p>
          <a:p>
            <a:r>
              <a:rPr lang="en-US" altLang="ko-KR"/>
              <a:t>used: </a:t>
            </a:r>
            <a:r>
              <a:rPr lang="ko-KR" altLang="en-US"/>
              <a:t>현재 프로그램들이 쓰고 있는 램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0.3GB).</a:t>
            </a:r>
          </a:p>
          <a:p>
            <a:endParaRPr lang="en-US" altLang="ko-KR"/>
          </a:p>
          <a:p>
            <a:r>
              <a:rPr lang="en-US" altLang="ko-KR"/>
              <a:t>buff/cache: </a:t>
            </a:r>
            <a:r>
              <a:rPr lang="ko-KR" altLang="en-US"/>
              <a:t>리눅스가 속도를 높이려고 임시로 데이터를 올려둔 공간</a:t>
            </a:r>
            <a:r>
              <a:rPr lang="en-US" altLang="ko-KR"/>
              <a:t>. </a:t>
            </a:r>
          </a:p>
          <a:p>
            <a:r>
              <a:rPr lang="ko-KR" altLang="en-US"/>
              <a:t>나중에 램이 부족해지면 이쪽은 자동으로 삭제해서 자리를 마련해주니까</a:t>
            </a:r>
            <a:r>
              <a:rPr lang="en-US" altLang="ko-KR"/>
              <a:t>, </a:t>
            </a:r>
            <a:r>
              <a:rPr lang="ko-KR" altLang="en-US"/>
              <a:t>걱정할 필요 없어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MiB Swap: 1024.0 total, 1024.0 free, 0.0 used</a:t>
            </a:r>
          </a:p>
          <a:p>
            <a:endParaRPr lang="en-US" altLang="ko-KR"/>
          </a:p>
          <a:p>
            <a:r>
              <a:rPr lang="en-US" altLang="ko-KR"/>
              <a:t>Swap: </a:t>
            </a:r>
            <a:r>
              <a:rPr lang="ko-KR" altLang="en-US"/>
              <a:t>램 용량이 꽉 찼을 때</a:t>
            </a:r>
            <a:r>
              <a:rPr lang="en-US" altLang="ko-KR"/>
              <a:t>, </a:t>
            </a:r>
            <a:r>
              <a:rPr lang="ko-KR" altLang="en-US"/>
              <a:t>어쩔 수 없이 하드디스크의 일부를 램처럼 빌려 쓰는 공간이야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지금 </a:t>
            </a:r>
            <a:r>
              <a:rPr lang="en-US" altLang="ko-KR"/>
              <a:t>0.0 used</a:t>
            </a:r>
            <a:r>
              <a:rPr lang="ko-KR" altLang="en-US"/>
              <a:t>라는 건</a:t>
            </a:r>
            <a:r>
              <a:rPr lang="en-US" altLang="ko-KR"/>
              <a:t>, "</a:t>
            </a:r>
            <a:r>
              <a:rPr lang="ko-KR" altLang="en-US"/>
              <a:t>램이 아주 넉넉해서 하드디스크까지 빌려 쓸 필요가 없다</a:t>
            </a:r>
            <a:r>
              <a:rPr lang="en-US" altLang="ko-KR"/>
              <a:t>"</a:t>
            </a:r>
            <a:r>
              <a:rPr lang="ko-KR" altLang="en-US"/>
              <a:t>는 아주 건강한 상태라는 뜻이야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60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976E-2077-0938-70BA-C91C8F2D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84D018-FBFA-1946-1DFB-C436F58055A6}"/>
              </a:ext>
            </a:extLst>
          </p:cNvPr>
          <p:cNvSpPr txBox="1"/>
          <p:nvPr/>
        </p:nvSpPr>
        <p:spPr>
          <a:xfrm>
            <a:off x="0" y="12680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 (steal, 0.0): </a:t>
            </a:r>
            <a:r>
              <a:rPr lang="ko-KR" altLang="en-US"/>
              <a:t>클라우드 환경에서만 나오는 아주 중요한 지표야</a:t>
            </a:r>
            <a:r>
              <a:rPr lang="en-US" altLang="ko-KR"/>
              <a:t>. </a:t>
            </a:r>
            <a:r>
              <a:rPr lang="ko-KR" altLang="en-US"/>
              <a:t>가상 머신</a:t>
            </a:r>
            <a:r>
              <a:rPr lang="en-US" altLang="ko-KR"/>
              <a:t>(VM)</a:t>
            </a:r>
            <a:r>
              <a:rPr lang="ko-KR" altLang="en-US"/>
              <a:t>을 빌려 쓰고 있다면</a:t>
            </a:r>
            <a:r>
              <a:rPr lang="en-US" altLang="ko-KR"/>
              <a:t>, </a:t>
            </a:r>
          </a:p>
          <a:p>
            <a:r>
              <a:rPr lang="ko-KR" altLang="en-US"/>
              <a:t>실제 물리 서버의 </a:t>
            </a:r>
            <a:r>
              <a:rPr lang="en-US" altLang="ko-KR"/>
              <a:t>CPU</a:t>
            </a:r>
            <a:r>
              <a:rPr lang="ko-KR" altLang="en-US"/>
              <a:t>를 다른 가상 머신이 채가서 내가 써야 할 </a:t>
            </a:r>
            <a:r>
              <a:rPr lang="en-US" altLang="ko-KR"/>
              <a:t>CPU</a:t>
            </a:r>
            <a:r>
              <a:rPr lang="ko-KR" altLang="en-US"/>
              <a:t>를 못 쓰고 빼앗긴 시간이야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이게 높으면 </a:t>
            </a:r>
            <a:r>
              <a:rPr lang="en-US" altLang="ko-KR"/>
              <a:t>"</a:t>
            </a:r>
            <a:r>
              <a:rPr lang="ko-KR" altLang="en-US"/>
              <a:t>클라우드 서비스 제공자</a:t>
            </a:r>
            <a:r>
              <a:rPr lang="en-US" altLang="ko-KR"/>
              <a:t>(AWS, GCP </a:t>
            </a:r>
            <a:r>
              <a:rPr lang="ko-KR" altLang="en-US"/>
              <a:t>등</a:t>
            </a:r>
            <a:r>
              <a:rPr lang="en-US" altLang="ko-KR"/>
              <a:t>)</a:t>
            </a:r>
            <a:r>
              <a:rPr lang="ko-KR" altLang="en-US"/>
              <a:t>가 </a:t>
            </a:r>
            <a:r>
              <a:rPr lang="en-US" altLang="ko-KR"/>
              <a:t>CPU </a:t>
            </a:r>
            <a:r>
              <a:rPr lang="ko-KR" altLang="en-US"/>
              <a:t>자원을 충분히 안 주고 있다</a:t>
            </a:r>
            <a:r>
              <a:rPr lang="en-US" altLang="ko-KR"/>
              <a:t>"</a:t>
            </a:r>
            <a:r>
              <a:rPr lang="ko-KR" altLang="en-US"/>
              <a:t>는 뜻이라</a:t>
            </a:r>
            <a:r>
              <a:rPr lang="en-US" altLang="ko-KR"/>
              <a:t>, </a:t>
            </a:r>
          </a:p>
          <a:p>
            <a:r>
              <a:rPr lang="ko-KR" altLang="en-US"/>
              <a:t>엔지니어가 클라우드 업체에 항의하거나 서버 사양을 높여야 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MiB Mem : 3760.2 total, 3225.4 free, 379.6 used, 155.2 buff/cache</a:t>
            </a:r>
          </a:p>
          <a:p>
            <a:endParaRPr lang="en-US" altLang="ko-KR"/>
          </a:p>
          <a:p>
            <a:r>
              <a:rPr lang="en-US" altLang="ko-KR"/>
              <a:t>total: </a:t>
            </a:r>
            <a:r>
              <a:rPr lang="ko-KR" altLang="en-US"/>
              <a:t>전체 램 용량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3.7GB).</a:t>
            </a:r>
          </a:p>
          <a:p>
            <a:endParaRPr lang="en-US" altLang="ko-KR"/>
          </a:p>
          <a:p>
            <a:r>
              <a:rPr lang="en-US" altLang="ko-KR"/>
              <a:t>free: </a:t>
            </a:r>
            <a:r>
              <a:rPr lang="ko-KR" altLang="en-US"/>
              <a:t>완전히 비어있는 램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3.2GB).</a:t>
            </a:r>
          </a:p>
          <a:p>
            <a:endParaRPr lang="en-US" altLang="ko-KR"/>
          </a:p>
          <a:p>
            <a:r>
              <a:rPr lang="en-US" altLang="ko-KR"/>
              <a:t>used: </a:t>
            </a:r>
            <a:r>
              <a:rPr lang="ko-KR" altLang="en-US"/>
              <a:t>현재 프로그램들이 쓰고 있는 램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0.3GB).</a:t>
            </a:r>
          </a:p>
          <a:p>
            <a:endParaRPr lang="en-US" altLang="ko-KR"/>
          </a:p>
          <a:p>
            <a:r>
              <a:rPr lang="en-US" altLang="ko-KR"/>
              <a:t>buff/cache: </a:t>
            </a:r>
            <a:r>
              <a:rPr lang="ko-KR" altLang="en-US"/>
              <a:t>리눅스가 속도를 높이려고 임시로 데이터를 올려둔 공간</a:t>
            </a:r>
            <a:r>
              <a:rPr lang="en-US" altLang="ko-KR"/>
              <a:t>. </a:t>
            </a:r>
          </a:p>
          <a:p>
            <a:r>
              <a:rPr lang="ko-KR" altLang="en-US"/>
              <a:t>나중에 램이 부족해지면 이쪽은 자동으로 삭제해서 자리를 마련해주니까</a:t>
            </a:r>
            <a:r>
              <a:rPr lang="en-US" altLang="ko-KR"/>
              <a:t>, </a:t>
            </a:r>
            <a:r>
              <a:rPr lang="ko-KR" altLang="en-US"/>
              <a:t>걱정할 필요 없어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MiB Swap: 1024.0 total, 1024.0 free, 0.0 used</a:t>
            </a:r>
          </a:p>
          <a:p>
            <a:endParaRPr lang="en-US" altLang="ko-KR"/>
          </a:p>
          <a:p>
            <a:r>
              <a:rPr lang="en-US" altLang="ko-KR"/>
              <a:t>Swap: </a:t>
            </a:r>
            <a:r>
              <a:rPr lang="ko-KR" altLang="en-US"/>
              <a:t>램 용량이 꽉 찼을 때</a:t>
            </a:r>
            <a:r>
              <a:rPr lang="en-US" altLang="ko-KR"/>
              <a:t>, </a:t>
            </a:r>
            <a:r>
              <a:rPr lang="ko-KR" altLang="en-US"/>
              <a:t>어쩔 수 없이 하드디스크의 일부를 램처럼 빌려 쓰는 공간이야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지금 </a:t>
            </a:r>
            <a:r>
              <a:rPr lang="en-US" altLang="ko-KR"/>
              <a:t>0.0 used</a:t>
            </a:r>
            <a:r>
              <a:rPr lang="ko-KR" altLang="en-US"/>
              <a:t>라는 건</a:t>
            </a:r>
            <a:r>
              <a:rPr lang="en-US" altLang="ko-KR"/>
              <a:t>, "</a:t>
            </a:r>
            <a:r>
              <a:rPr lang="ko-KR" altLang="en-US"/>
              <a:t>램이 아주 넉넉해서 하드디스크까지 빌려 쓸 필요가 없다</a:t>
            </a:r>
            <a:r>
              <a:rPr lang="en-US" altLang="ko-KR"/>
              <a:t>"</a:t>
            </a:r>
            <a:r>
              <a:rPr lang="ko-KR" altLang="en-US"/>
              <a:t>는 아주 건강한 상태라는 뜻이야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30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84A0-0666-3E7A-EF8F-5BF6A339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BA60C4-5E37-623B-2AA9-9A5CEB08BAD6}"/>
              </a:ext>
            </a:extLst>
          </p:cNvPr>
          <p:cNvSpPr txBox="1"/>
          <p:nvPr/>
        </p:nvSpPr>
        <p:spPr>
          <a:xfrm>
            <a:off x="0" y="512170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PID (process ID), USER</a:t>
            </a:r>
            <a:r>
              <a:rPr lang="ko-KR" altLang="en-US"/>
              <a:t> </a:t>
            </a:r>
            <a:r>
              <a:rPr lang="en-US" altLang="ko-KR"/>
              <a:t>(root</a:t>
            </a:r>
            <a:r>
              <a:rPr lang="ko-KR" altLang="en-US"/>
              <a:t>는 시스템 관리자 계정</a:t>
            </a:r>
            <a:r>
              <a:rPr lang="en-US" altLang="ko-KR"/>
              <a:t>, system+, syslog </a:t>
            </a:r>
            <a:r>
              <a:rPr lang="ko-KR" altLang="en-US"/>
              <a:t>운영체제 기능을 담당하는 전용 계정</a:t>
            </a:r>
            <a:r>
              <a:rPr lang="en-US" altLang="ko-KR"/>
              <a:t>)</a:t>
            </a:r>
          </a:p>
          <a:p>
            <a:r>
              <a:rPr lang="en-US" altLang="ko-KR"/>
              <a:t>COMMAND (</a:t>
            </a:r>
            <a:r>
              <a:rPr lang="ko-KR" altLang="en-US"/>
              <a:t>실행된 프로그램의 이름</a:t>
            </a:r>
            <a:r>
              <a:rPr lang="en-US" altLang="ko-KR"/>
              <a:t>), </a:t>
            </a:r>
          </a:p>
          <a:p>
            <a:r>
              <a:rPr lang="en-US" altLang="ko-KR"/>
              <a:t>VIRT (Virtual Memory), RES(resident Memory, </a:t>
            </a:r>
            <a:r>
              <a:rPr lang="ko-KR" altLang="en-US"/>
              <a:t>실제 </a:t>
            </a:r>
            <a:r>
              <a:rPr lang="en-US" altLang="ko-KR"/>
              <a:t>RAM</a:t>
            </a:r>
            <a:r>
              <a:rPr lang="ko-KR" altLang="en-US"/>
              <a:t>을 차지하는 메모리 크기</a:t>
            </a:r>
            <a:r>
              <a:rPr lang="en-US" altLang="ko-KR"/>
              <a:t>)</a:t>
            </a:r>
          </a:p>
          <a:p>
            <a:r>
              <a:rPr lang="en-US" altLang="ko-KR"/>
              <a:t>SHR (Shared Memory, </a:t>
            </a:r>
            <a:r>
              <a:rPr lang="ko-KR" altLang="en-US"/>
              <a:t>다른 프로그램과 공유해서 쓰는 메모리</a:t>
            </a:r>
            <a:r>
              <a:rPr lang="en-US" altLang="ko-KR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8612A4-EA8F-0274-7A61-8B9728DC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88" y="158070"/>
            <a:ext cx="7497221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0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71FEE-7D59-27B2-DEAF-B76B476D79E4}"/>
              </a:ext>
            </a:extLst>
          </p:cNvPr>
          <p:cNvSpPr txBox="1"/>
          <p:nvPr/>
        </p:nvSpPr>
        <p:spPr>
          <a:xfrm>
            <a:off x="0" y="0"/>
            <a:ext cx="119253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PR (Priority) / NI (Nice): 이 작업이 얼마나 중요한지 나타내는 수치야. 숫자가 낮을수록 우선순위가 높아서 CPU를 먼저 선점해. (일반적으로는 20/0으로 다 똑같아.)</a:t>
            </a:r>
          </a:p>
          <a:p>
            <a:endParaRPr lang="ko-KR" altLang="en-US"/>
          </a:p>
          <a:p>
            <a:r>
              <a:rPr lang="ko-KR" altLang="en-US"/>
              <a:t>%CPU: 이 프로세스가 지금 CPU를 얼마나 쓰고 있나?</a:t>
            </a:r>
          </a:p>
          <a:p>
            <a:endParaRPr lang="ko-KR" altLang="en-US"/>
          </a:p>
          <a:p>
            <a:r>
              <a:rPr lang="ko-KR" altLang="en-US"/>
              <a:t>%MEM: 이 프로세스가 전체 램 중 몇 %를 쓰고 있나? (예: snapd가 1.1%로 가장 많이 쓰고 있네.)</a:t>
            </a:r>
          </a:p>
          <a:p>
            <a:endParaRPr lang="ko-KR" altLang="en-US"/>
          </a:p>
          <a:p>
            <a:r>
              <a:rPr lang="ko-KR" altLang="en-US"/>
              <a:t>TIME+: 이 프로그램이 처음 시작된 이후 지금까지 총 몇 초 동안 CPU를 괴롭혔는지 알려주는 '총 업무 시간’이야.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S: </a:t>
            </a:r>
            <a:r>
              <a:rPr lang="ko-KR" altLang="en-US"/>
              <a:t>전부 </a:t>
            </a:r>
            <a:r>
              <a:rPr lang="en-US" altLang="ko-KR"/>
              <a:t>sleeping </a:t>
            </a:r>
            <a:r>
              <a:rPr lang="ko-KR" altLang="en-US"/>
              <a:t>상태</a:t>
            </a:r>
            <a:r>
              <a:rPr lang="en-US" altLang="ko-KR"/>
              <a:t>, s</a:t>
            </a:r>
            <a:r>
              <a:rPr lang="ko-KR" altLang="en-US"/>
              <a:t>면 잠자는 중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it-IT" altLang="ko-KR"/>
              <a:t>-rwxr-xr-x 1 dimo0121 dimo0121 17016 May 28 11:19 a.out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첫번째 유저</a:t>
            </a:r>
            <a:r>
              <a:rPr lang="en-US" altLang="ko-KR"/>
              <a:t>, </a:t>
            </a:r>
            <a:r>
              <a:rPr lang="ko-KR" altLang="en-US"/>
              <a:t>두번째 그룹</a:t>
            </a:r>
            <a:r>
              <a:rPr lang="en-US" altLang="ko-KR"/>
              <a:t>, </a:t>
            </a:r>
            <a:r>
              <a:rPr lang="ko-KR" altLang="en-US"/>
              <a:t>세번째 기타 사용자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ls</a:t>
            </a:r>
            <a:r>
              <a:rPr lang="ko-KR" altLang="en-US"/>
              <a:t> </a:t>
            </a:r>
            <a:r>
              <a:rPr lang="en-US" altLang="ko-KR"/>
              <a:t>–l</a:t>
            </a:r>
            <a:r>
              <a:rPr lang="ko-KR" altLang="en-US"/>
              <a:t>을 하면 현재 폴더에 존재하는 폴더 </a:t>
            </a:r>
            <a:r>
              <a:rPr lang="en-US" altLang="ko-KR"/>
              <a:t>and </a:t>
            </a:r>
            <a:r>
              <a:rPr lang="ko-KR" altLang="en-US"/>
              <a:t>파일들의 권한을 확인할 수 있음</a:t>
            </a:r>
            <a:r>
              <a:rPr lang="en-US" altLang="ko-KR"/>
              <a:t>.</a:t>
            </a:r>
          </a:p>
          <a:p>
            <a:r>
              <a:rPr lang="ko-KR" altLang="en-US"/>
              <a:t>기본적으로 파일은 </a:t>
            </a:r>
            <a:r>
              <a:rPr lang="en-US" altLang="ko-KR"/>
              <a:t>644</a:t>
            </a:r>
            <a:r>
              <a:rPr lang="ko-KR" altLang="en-US"/>
              <a:t>권한을 가지고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chmod</a:t>
            </a:r>
            <a:r>
              <a:rPr lang="ko-KR" altLang="en-US"/>
              <a:t> </a:t>
            </a:r>
            <a:r>
              <a:rPr lang="en-US" altLang="ko-KR"/>
              <a:t>444</a:t>
            </a:r>
            <a:r>
              <a:rPr lang="ko-KR" altLang="en-US"/>
              <a:t> </a:t>
            </a:r>
            <a:r>
              <a:rPr lang="en-US" altLang="ko-KR"/>
              <a:t>test.txt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chmod u+x test.txt</a:t>
            </a:r>
          </a:p>
          <a:p>
            <a:r>
              <a:rPr lang="ko-KR" altLang="en-US"/>
              <a:t>이렇게 하면 파일 권한 수정가능</a:t>
            </a:r>
            <a:r>
              <a:rPr lang="en-US" altLang="ko-KR"/>
              <a:t>. </a:t>
            </a:r>
          </a:p>
          <a:p>
            <a:r>
              <a:rPr lang="en-US" altLang="ko-KR"/>
              <a:t>(</a:t>
            </a:r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보통 실행파일은 초록색으로 보인다</a:t>
            </a:r>
            <a:r>
              <a:rPr lang="en-US" altLang="ko-KR"/>
              <a:t>. </a:t>
            </a:r>
            <a:r>
              <a:rPr lang="ko-KR" altLang="en-US"/>
              <a:t>디렉토리는 파란색이다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88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68AE-1AD4-02FA-512C-AE93C573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2A8EB5-FADB-F536-63B6-C593E60452C1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sudo chown [</a:t>
            </a:r>
            <a:r>
              <a:rPr lang="ko-KR" altLang="en-US"/>
              <a:t>사용자명</a:t>
            </a:r>
            <a:r>
              <a:rPr lang="en-US" altLang="ko-KR"/>
              <a:t>] [</a:t>
            </a:r>
            <a:r>
              <a:rPr lang="ko-KR" altLang="en-US"/>
              <a:t>파일이름</a:t>
            </a:r>
            <a:r>
              <a:rPr lang="en-US" altLang="ko-KR"/>
              <a:t>]</a:t>
            </a:r>
          </a:p>
          <a:p>
            <a:r>
              <a:rPr lang="en-US" altLang="ko-KR"/>
              <a:t>sudo(root </a:t>
            </a:r>
            <a:r>
              <a:rPr lang="ko-KR" altLang="en-US"/>
              <a:t>권한으로 실행</a:t>
            </a:r>
            <a:r>
              <a:rPr lang="en-US" altLang="ko-KR"/>
              <a:t>, chown(change owner</a:t>
            </a:r>
            <a:r>
              <a:rPr lang="ko-KR" altLang="en-US"/>
              <a:t>의 줄임말</a:t>
            </a:r>
            <a:r>
              <a:rPr lang="en-US" altLang="ko-KR"/>
              <a:t>))</a:t>
            </a:r>
          </a:p>
          <a:p>
            <a:endParaRPr lang="en-US" altLang="ko-KR"/>
          </a:p>
          <a:p>
            <a:r>
              <a:rPr lang="en-US" altLang="ko-KR"/>
              <a:t>cat /etc/passwd, </a:t>
            </a:r>
            <a:r>
              <a:rPr lang="ko-KR" altLang="en-US"/>
              <a:t>시스템에 존재하는 모든 사용자 계정 정보를 담고 있는 파일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it-IT" altLang="ko-KR"/>
              <a:t>dimo0121:x:1000:1000:,,,:/home/dimo0121:/bin/bash</a:t>
            </a:r>
            <a:endParaRPr lang="en-US" altLang="ko-KR"/>
          </a:p>
          <a:p>
            <a:r>
              <a:rPr lang="ko-KR" altLang="en-US"/>
              <a:t>사용자이름</a:t>
            </a:r>
            <a:r>
              <a:rPr lang="en-US" altLang="ko-KR"/>
              <a:t>, x(</a:t>
            </a:r>
            <a:r>
              <a:rPr lang="ko-KR" altLang="en-US"/>
              <a:t>비밀번호 자리</a:t>
            </a:r>
            <a:r>
              <a:rPr lang="en-US" altLang="ko-KR"/>
              <a:t>), UID, GID, ,,,(</a:t>
            </a:r>
            <a:r>
              <a:rPr lang="ko-KR" altLang="en-US"/>
              <a:t>사용자 설명</a:t>
            </a:r>
            <a:r>
              <a:rPr lang="en-US" altLang="ko-KR"/>
              <a:t>), </a:t>
            </a:r>
            <a:r>
              <a:rPr lang="ko-KR" altLang="en-US"/>
              <a:t>홈 디렉토리</a:t>
            </a:r>
            <a:r>
              <a:rPr lang="en-US" altLang="ko-KR"/>
              <a:t>, Shell(</a:t>
            </a:r>
            <a:r>
              <a:rPr lang="ko-KR" altLang="en-US"/>
              <a:t>로그인했을 때 어떤 프로그램을 실행할지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en-US" altLang="ko-KR"/>
              <a:t>www-data (</a:t>
            </a:r>
            <a:r>
              <a:rPr lang="ko-KR" altLang="en-US"/>
              <a:t>만약 누가 웹 서버를 해킹한다면</a:t>
            </a:r>
            <a:r>
              <a:rPr lang="en-US" altLang="ko-KR"/>
              <a:t>, </a:t>
            </a:r>
            <a:r>
              <a:rPr lang="ko-KR" altLang="en-US"/>
              <a:t>해커가 </a:t>
            </a:r>
            <a:r>
              <a:rPr lang="en-US" altLang="ko-KR"/>
              <a:t>www-data </a:t>
            </a:r>
            <a:r>
              <a:rPr lang="ko-KR" altLang="en-US"/>
              <a:t>권한을 뺏게 됨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ko-KR" altLang="en-US"/>
              <a:t>깔끔하게 하려면 </a:t>
            </a:r>
            <a:r>
              <a:rPr lang="en-US" altLang="ko-KR"/>
              <a:t>clear </a:t>
            </a:r>
            <a:r>
              <a:rPr lang="ko-KR" altLang="en-US"/>
              <a:t>명령어 </a:t>
            </a:r>
            <a:r>
              <a:rPr lang="en-US" altLang="ko-KR"/>
              <a:t>or Ctrl + L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675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9C367-B6E5-1EF2-237D-682F861B302A}"/>
              </a:ext>
            </a:extLst>
          </p:cNvPr>
          <p:cNvSpPr txBox="1"/>
          <p:nvPr/>
        </p:nvSpPr>
        <p:spPr>
          <a:xfrm>
            <a:off x="0" y="-1"/>
            <a:ext cx="1183907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프로세스 </a:t>
            </a:r>
            <a:r>
              <a:rPr lang="en-US" altLang="ko-KR"/>
              <a:t>(</a:t>
            </a:r>
            <a:r>
              <a:rPr lang="ko-KR" altLang="en-US"/>
              <a:t>실행 중인 프로그램</a:t>
            </a:r>
            <a:r>
              <a:rPr lang="en-US" altLang="ko-KR"/>
              <a:t>, </a:t>
            </a:r>
            <a:r>
              <a:rPr lang="ko-KR" altLang="en-US"/>
              <a:t>모든 프로세스는 고유한 </a:t>
            </a:r>
            <a:r>
              <a:rPr lang="en-US" altLang="ko-KR"/>
              <a:t>PID</a:t>
            </a:r>
            <a:r>
              <a:rPr lang="ko-KR" altLang="en-US"/>
              <a:t>를 가진다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en-US" altLang="ko-KR"/>
              <a:t>ps </a:t>
            </a:r>
            <a:r>
              <a:rPr lang="ko-KR" altLang="en-US"/>
              <a:t>컴퓨터에서 어떤 일이 발생하는지 확인 </a:t>
            </a:r>
            <a:r>
              <a:rPr lang="en-US" altLang="ko-KR"/>
              <a:t>(</a:t>
            </a:r>
            <a:r>
              <a:rPr lang="ko-KR" altLang="en-US"/>
              <a:t>이건 순간 느낌</a:t>
            </a:r>
            <a:r>
              <a:rPr lang="en-US" altLang="ko-KR"/>
              <a:t>)</a:t>
            </a:r>
          </a:p>
          <a:p>
            <a:r>
              <a:rPr lang="ko-KR" altLang="en-US"/>
              <a:t>주로 </a:t>
            </a:r>
            <a:r>
              <a:rPr lang="en-US" altLang="ko-KR"/>
              <a:t>ps aux</a:t>
            </a:r>
            <a:r>
              <a:rPr lang="ko-KR" altLang="en-US"/>
              <a:t>를 사용한다</a:t>
            </a:r>
            <a:r>
              <a:rPr lang="en-US" altLang="ko-KR"/>
              <a:t>. </a:t>
            </a:r>
          </a:p>
          <a:p>
            <a:r>
              <a:rPr lang="en-US" altLang="ko-KR"/>
              <a:t>(a, </a:t>
            </a:r>
            <a:r>
              <a:rPr lang="ko-KR" altLang="en-US"/>
              <a:t>모든 사용자의 프로세스 보기</a:t>
            </a:r>
            <a:endParaRPr lang="en-US" altLang="ko-KR"/>
          </a:p>
          <a:p>
            <a:r>
              <a:rPr lang="en-US" altLang="ko-KR"/>
              <a:t> u, </a:t>
            </a:r>
            <a:r>
              <a:rPr lang="ko-KR" altLang="en-US"/>
              <a:t>사용자 이름과 함께 상세히 보기</a:t>
            </a:r>
            <a:endParaRPr lang="en-US" altLang="ko-KR"/>
          </a:p>
          <a:p>
            <a:r>
              <a:rPr lang="en-US" altLang="ko-KR"/>
              <a:t> x, </a:t>
            </a:r>
            <a:r>
              <a:rPr lang="ko-KR" altLang="en-US"/>
              <a:t>터미널에 종속되지 않은 프로세스까지 보기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PID</a:t>
            </a:r>
            <a:r>
              <a:rPr lang="ko-KR" altLang="en-US"/>
              <a:t> 고유번호 </a:t>
            </a:r>
            <a:r>
              <a:rPr lang="en-US" altLang="ko-KR"/>
              <a:t>(1, /sbin/init, </a:t>
            </a:r>
            <a:r>
              <a:rPr lang="ko-KR" altLang="en-US"/>
              <a:t>모든 프로세스의 조상</a:t>
            </a:r>
            <a:r>
              <a:rPr lang="en-US" altLang="ko-KR"/>
              <a:t>)</a:t>
            </a:r>
          </a:p>
          <a:p>
            <a:r>
              <a:rPr lang="en-US" altLang="ko-KR"/>
              <a:t>STAT </a:t>
            </a:r>
            <a:r>
              <a:rPr lang="ko-KR" altLang="en-US"/>
              <a:t>상태</a:t>
            </a:r>
            <a:endParaRPr lang="en-US" altLang="ko-KR"/>
          </a:p>
          <a:p>
            <a:r>
              <a:rPr lang="ko-KR" altLang="en-US"/>
              <a:t>맨 앞자리 </a:t>
            </a:r>
            <a:r>
              <a:rPr lang="en-US" altLang="ko-KR"/>
              <a:t>(R(running), S(sleeping), D(Disk Sleep), T(Stopped))</a:t>
            </a:r>
          </a:p>
          <a:p>
            <a:r>
              <a:rPr lang="ko-KR" altLang="en-US"/>
              <a:t>뒷자리 붙는 것</a:t>
            </a:r>
            <a:endParaRPr lang="en-US" altLang="ko-KR"/>
          </a:p>
          <a:p>
            <a:r>
              <a:rPr lang="en-US" altLang="ko-KR"/>
              <a:t>(s (small s, Session Leader, </a:t>
            </a:r>
            <a:r>
              <a:rPr lang="ko-KR" altLang="en-US"/>
              <a:t>자식 프로세스들을 거느리는 대장</a:t>
            </a:r>
            <a:r>
              <a:rPr lang="en-US" altLang="ko-KR"/>
              <a:t>)</a:t>
            </a:r>
          </a:p>
          <a:p>
            <a:r>
              <a:rPr lang="en-US" altLang="ko-KR"/>
              <a:t> l (small l), Multi-threaded </a:t>
            </a:r>
            <a:r>
              <a:rPr lang="ko-KR" altLang="en-US"/>
              <a:t>프로세스 안에 여러 개의 작은 스레드가 같이 일하고 있다는 뜻</a:t>
            </a:r>
            <a:endParaRPr lang="en-US" altLang="ko-KR"/>
          </a:p>
          <a:p>
            <a:r>
              <a:rPr lang="en-US" altLang="ko-KR"/>
              <a:t> + (plus), Foreground </a:t>
            </a:r>
            <a:r>
              <a:rPr lang="ko-KR" altLang="en-US"/>
              <a:t>터미널 화면에서 직접적으로 연결되어 실행 중</a:t>
            </a:r>
            <a:endParaRPr lang="en-US" altLang="ko-KR"/>
          </a:p>
          <a:p>
            <a:r>
              <a:rPr lang="en-US" altLang="ko-KR"/>
              <a:t> &lt; (High Priority, CPU</a:t>
            </a:r>
            <a:r>
              <a:rPr lang="ko-KR" altLang="en-US"/>
              <a:t> 우선순위가 높은 것</a:t>
            </a:r>
            <a:r>
              <a:rPr lang="en-US" altLang="ko-KR"/>
              <a:t>)</a:t>
            </a:r>
          </a:p>
          <a:p>
            <a:r>
              <a:rPr lang="en-US" altLang="ko-KR"/>
              <a:t> N (Low Priority, </a:t>
            </a:r>
            <a:r>
              <a:rPr lang="ko-KR" altLang="en-US"/>
              <a:t>우선순위가 낮은 것</a:t>
            </a:r>
            <a:r>
              <a:rPr lang="en-US" altLang="ko-KR"/>
              <a:t>))</a:t>
            </a:r>
          </a:p>
          <a:p>
            <a:endParaRPr lang="en-US" altLang="ko-KR"/>
          </a:p>
          <a:p>
            <a:r>
              <a:rPr lang="ko-KR" altLang="en-US"/>
              <a:t>백그라운드 프로세스 생성</a:t>
            </a:r>
            <a:endParaRPr lang="en-US" altLang="ko-KR"/>
          </a:p>
          <a:p>
            <a:r>
              <a:rPr lang="en-US" altLang="ko-KR"/>
              <a:t>sleep 100 &amp;</a:t>
            </a:r>
          </a:p>
          <a:p>
            <a:r>
              <a:rPr lang="en-US" altLang="ko-KR"/>
              <a:t>100</a:t>
            </a:r>
            <a:r>
              <a:rPr lang="ko-KR" altLang="en-US"/>
              <a:t>초 동안 아무것도 하지 않고 대기</a:t>
            </a:r>
            <a:r>
              <a:rPr lang="en-US" altLang="ko-KR"/>
              <a:t>, &amp;</a:t>
            </a:r>
            <a:r>
              <a:rPr lang="ko-KR" altLang="en-US"/>
              <a:t>을 붙이면 백그라운드</a:t>
            </a:r>
            <a:r>
              <a:rPr lang="en-US" altLang="ko-KR"/>
              <a:t>(</a:t>
            </a:r>
            <a:r>
              <a:rPr lang="ko-KR" altLang="en-US"/>
              <a:t>뒤쪽</a:t>
            </a:r>
            <a:r>
              <a:rPr lang="en-US" altLang="ko-KR"/>
              <a:t>)</a:t>
            </a:r>
            <a:r>
              <a:rPr lang="ko-KR" altLang="en-US"/>
              <a:t>에서 실행</a:t>
            </a:r>
            <a:r>
              <a:rPr lang="en-US" altLang="ko-KR"/>
              <a:t>.</a:t>
            </a:r>
          </a:p>
          <a:p>
            <a:r>
              <a:rPr lang="en-US" altLang="ko-KR"/>
              <a:t>[1] 1221 (</a:t>
            </a:r>
            <a:r>
              <a:rPr lang="ko-KR" altLang="en-US"/>
              <a:t>프로세스의 </a:t>
            </a:r>
            <a:r>
              <a:rPr lang="en-US" altLang="ko-KR"/>
              <a:t>PID)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98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1B15-A89E-BF73-CBD4-4AD29D77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BF5B33-2EF6-8255-1504-199761811BDB}"/>
              </a:ext>
            </a:extLst>
          </p:cNvPr>
          <p:cNvSpPr txBox="1"/>
          <p:nvPr/>
        </p:nvSpPr>
        <p:spPr>
          <a:xfrm>
            <a:off x="0" y="-1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ps aux | grep sleep</a:t>
            </a:r>
          </a:p>
          <a:p>
            <a:r>
              <a:rPr lang="en-US" altLang="ko-KR"/>
              <a:t>ps</a:t>
            </a:r>
            <a:r>
              <a:rPr lang="ko-KR" altLang="en-US"/>
              <a:t> </a:t>
            </a:r>
            <a:r>
              <a:rPr lang="en-US" altLang="ko-KR"/>
              <a:t>aux</a:t>
            </a:r>
            <a:r>
              <a:rPr lang="ko-KR" altLang="en-US"/>
              <a:t>의 결과를 오른쪽 </a:t>
            </a:r>
            <a:r>
              <a:rPr lang="en-US" altLang="ko-KR"/>
              <a:t>grep sleep</a:t>
            </a:r>
            <a:r>
              <a:rPr lang="ko-KR" altLang="en-US"/>
              <a:t>으로 전달</a:t>
            </a:r>
            <a:r>
              <a:rPr lang="en-US" altLang="ko-KR"/>
              <a:t>, </a:t>
            </a:r>
            <a:r>
              <a:rPr lang="ko-KR" altLang="en-US"/>
              <a:t>방금 만든 프로세스에서 </a:t>
            </a:r>
            <a:r>
              <a:rPr lang="en-US" altLang="ko-KR"/>
              <a:t>sleep</a:t>
            </a:r>
            <a:r>
              <a:rPr lang="ko-KR" altLang="en-US"/>
              <a:t>이 들어간 녀석만 골라냄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이러고 </a:t>
            </a:r>
            <a:r>
              <a:rPr lang="en-US" altLang="ko-KR"/>
              <a:t>PID</a:t>
            </a:r>
            <a:r>
              <a:rPr lang="ko-KR" altLang="en-US"/>
              <a:t>를 이용해서 </a:t>
            </a:r>
            <a:r>
              <a:rPr lang="en-US" altLang="ko-KR"/>
              <a:t>kill PID</a:t>
            </a:r>
            <a:r>
              <a:rPr lang="ko-KR" altLang="en-US"/>
              <a:t>를 입력하면 프로세스 제거가능</a:t>
            </a:r>
            <a:endParaRPr lang="en-US" altLang="ko-KR"/>
          </a:p>
          <a:p>
            <a:r>
              <a:rPr lang="en-US" altLang="ko-KR"/>
              <a:t>pkill sleep </a:t>
            </a:r>
            <a:r>
              <a:rPr lang="ko-KR" altLang="en-US"/>
              <a:t>이렇게 입력해도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또한</a:t>
            </a:r>
            <a:r>
              <a:rPr lang="en-US" altLang="ko-KR"/>
              <a:t>, kill [PID]</a:t>
            </a:r>
            <a:r>
              <a:rPr lang="ko-KR" altLang="en-US"/>
              <a:t>는 </a:t>
            </a:r>
            <a:r>
              <a:rPr lang="en-US" altLang="ko-KR"/>
              <a:t>SIGTERM(15</a:t>
            </a:r>
            <a:r>
              <a:rPr lang="ko-KR" altLang="en-US"/>
              <a:t>번 신호</a:t>
            </a:r>
            <a:r>
              <a:rPr lang="en-US" altLang="ko-KR"/>
              <a:t>) </a:t>
            </a:r>
            <a:r>
              <a:rPr lang="ko-KR" altLang="en-US"/>
              <a:t>신호를 보내기에</a:t>
            </a:r>
            <a:r>
              <a:rPr lang="en-US" altLang="ko-KR"/>
              <a:t>, </a:t>
            </a:r>
            <a:r>
              <a:rPr lang="ko-KR" altLang="en-US"/>
              <a:t>신호를 안 받으면 제거 안될 수도</a:t>
            </a:r>
            <a:r>
              <a:rPr lang="en-US" altLang="ko-KR"/>
              <a:t>..</a:t>
            </a:r>
          </a:p>
          <a:p>
            <a:r>
              <a:rPr lang="en-US" altLang="ko-KR"/>
              <a:t>kill -9 [PID] (SIGKILL</a:t>
            </a:r>
            <a:r>
              <a:rPr lang="ko-KR" altLang="en-US"/>
              <a:t>은 </a:t>
            </a:r>
            <a:r>
              <a:rPr lang="en-US" altLang="ko-KR"/>
              <a:t>9</a:t>
            </a:r>
            <a:r>
              <a:rPr lang="ko-KR" altLang="en-US"/>
              <a:t>번 신호이기 때문에 바로 강제종료 때릴 수 있다</a:t>
            </a:r>
            <a:r>
              <a:rPr lang="en-US" altLang="ko-KR"/>
              <a:t>.)</a:t>
            </a:r>
          </a:p>
          <a:p>
            <a:r>
              <a:rPr lang="ko-KR" altLang="en-US"/>
              <a:t>단</a:t>
            </a:r>
            <a:r>
              <a:rPr lang="en-US" altLang="ko-KR"/>
              <a:t>, SIGKILL</a:t>
            </a:r>
            <a:r>
              <a:rPr lang="ko-KR" altLang="en-US"/>
              <a:t>은 저장할 틈도 없이 잘려 나가서 파일이 깨지거나 잘려나가서 파일이 깨지거나 복구가 어려울 수도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11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940E-C211-8D36-C9A5-CD29F138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A29A52-53FA-6E9F-BB25-6E26376EE0A4}"/>
              </a:ext>
            </a:extLst>
          </p:cNvPr>
          <p:cNvSpPr txBox="1"/>
          <p:nvPr/>
        </p:nvSpPr>
        <p:spPr>
          <a:xfrm>
            <a:off x="0" y="-1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로그 시스템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모든 로그는 </a:t>
            </a:r>
            <a:r>
              <a:rPr lang="en-US" altLang="ko-KR"/>
              <a:t>/var/log/</a:t>
            </a:r>
            <a:r>
              <a:rPr lang="ko-KR" altLang="en-US"/>
              <a:t>에 저장된다</a:t>
            </a:r>
            <a:r>
              <a:rPr lang="en-US" altLang="ko-KR"/>
              <a:t>.</a:t>
            </a:r>
          </a:p>
          <a:p>
            <a:r>
              <a:rPr lang="en-US" altLang="ko-KR"/>
              <a:t>syslog(or</a:t>
            </a:r>
            <a:r>
              <a:rPr lang="ko-KR" altLang="en-US"/>
              <a:t> </a:t>
            </a:r>
            <a:r>
              <a:rPr lang="en-US" altLang="ko-KR"/>
              <a:t>messages) </a:t>
            </a:r>
            <a:r>
              <a:rPr lang="ko-KR" altLang="en-US"/>
              <a:t>시스템 전반의 운영 기록</a:t>
            </a:r>
            <a:endParaRPr lang="en-US" altLang="ko-KR"/>
          </a:p>
          <a:p>
            <a:r>
              <a:rPr lang="en-US" altLang="ko-KR"/>
              <a:t>auth.log </a:t>
            </a:r>
            <a:r>
              <a:rPr lang="ko-KR" altLang="en-US"/>
              <a:t>누가 로그인했는지</a:t>
            </a:r>
            <a:r>
              <a:rPr lang="en-US" altLang="ko-KR"/>
              <a:t>, sudo</a:t>
            </a:r>
            <a:r>
              <a:rPr lang="ko-KR" altLang="en-US"/>
              <a:t>를 사용했는지</a:t>
            </a:r>
            <a:r>
              <a:rPr lang="en-US" altLang="ko-KR"/>
              <a:t>(</a:t>
            </a:r>
            <a:r>
              <a:rPr lang="ko-KR" altLang="en-US"/>
              <a:t>보안 기록</a:t>
            </a:r>
            <a:r>
              <a:rPr lang="en-US" altLang="ko-KR"/>
              <a:t>)</a:t>
            </a:r>
          </a:p>
          <a:p>
            <a:r>
              <a:rPr lang="en-US" altLang="ko-KR"/>
              <a:t>kern.log </a:t>
            </a:r>
            <a:r>
              <a:rPr lang="ko-KR" altLang="en-US"/>
              <a:t>커널</a:t>
            </a:r>
            <a:r>
              <a:rPr lang="en-US" altLang="ko-KR"/>
              <a:t>(</a:t>
            </a:r>
            <a:r>
              <a:rPr lang="ko-KR" altLang="en-US"/>
              <a:t>운영체제의 심장</a:t>
            </a:r>
            <a:r>
              <a:rPr lang="en-US" altLang="ko-KR"/>
              <a:t>)</a:t>
            </a:r>
            <a:r>
              <a:rPr lang="ko-KR" altLang="en-US"/>
              <a:t>에서 발생한 에러 기록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로그 파일은 너무 크기 때문에</a:t>
            </a:r>
            <a:r>
              <a:rPr lang="en-US" altLang="ko-KR"/>
              <a:t>, cat</a:t>
            </a:r>
            <a:r>
              <a:rPr lang="ko-KR" altLang="en-US"/>
              <a:t>으로 전부 확인하면 힘들다</a:t>
            </a:r>
            <a:r>
              <a:rPr lang="en-US" altLang="ko-KR"/>
              <a:t>. </a:t>
            </a:r>
            <a:r>
              <a:rPr lang="ko-KR" altLang="en-US"/>
              <a:t>즉</a:t>
            </a:r>
            <a:r>
              <a:rPr lang="en-US" altLang="ko-KR"/>
              <a:t>, tail -f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r>
              <a:rPr lang="en-US" altLang="ko-KR"/>
              <a:t>(-f (follow), </a:t>
            </a:r>
            <a:r>
              <a:rPr lang="ko-KR" altLang="en-US"/>
              <a:t>파일의 끝에 새로운 내용이 추가되면 실시간으로 화면에 출력해준다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ko-KR" altLang="en-US"/>
              <a:t>또한</a:t>
            </a:r>
            <a:r>
              <a:rPr lang="en-US" altLang="ko-KR"/>
              <a:t>, SuperUser DO (</a:t>
            </a:r>
            <a:r>
              <a:rPr lang="ko-KR" altLang="en-US"/>
              <a:t>최고 관리자 권한으로 실행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sudo tail /var/log/auth.log</a:t>
            </a:r>
          </a:p>
          <a:p>
            <a:r>
              <a:rPr lang="ko-KR" altLang="en-US"/>
              <a:t>리눅스는 사용자가 자고 있을 때도 스스로 관리 작업을 하며</a:t>
            </a:r>
            <a:r>
              <a:rPr lang="en-US" altLang="ko-KR"/>
              <a:t>, </a:t>
            </a:r>
            <a:r>
              <a:rPr lang="ko-KR" altLang="en-US"/>
              <a:t>모든 작업은 로그로 남는다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sudo</a:t>
            </a:r>
            <a:r>
              <a:rPr lang="ko-KR" altLang="en-US"/>
              <a:t> </a:t>
            </a:r>
            <a:r>
              <a:rPr lang="en-US" altLang="ko-KR"/>
              <a:t>tail</a:t>
            </a:r>
            <a:r>
              <a:rPr lang="ko-KR" altLang="en-US"/>
              <a:t> </a:t>
            </a:r>
            <a:r>
              <a:rPr lang="en-US" altLang="ko-KR"/>
              <a:t>–f /var/log/syslog</a:t>
            </a:r>
          </a:p>
          <a:p>
            <a:r>
              <a:rPr lang="ko-KR" altLang="en-US"/>
              <a:t>시스템이 실시간으로 어떤 상태인지 로그로 보여준다</a:t>
            </a:r>
            <a:r>
              <a:rPr lang="en-US" altLang="ko-KR"/>
              <a:t>.</a:t>
            </a:r>
          </a:p>
          <a:p>
            <a:r>
              <a:rPr lang="ko-KR" altLang="en-US"/>
              <a:t>종료하려면 </a:t>
            </a:r>
            <a:r>
              <a:rPr lang="en-US" altLang="ko-KR"/>
              <a:t>Ctrl + C(SIGINT) </a:t>
            </a:r>
            <a:r>
              <a:rPr lang="ko-KR" altLang="en-US"/>
              <a:t>입력</a:t>
            </a:r>
            <a:r>
              <a:rPr lang="en-US" altLang="ko-KR"/>
              <a:t>, Ctrl + Z</a:t>
            </a:r>
            <a:r>
              <a:rPr lang="ko-KR" altLang="en-US"/>
              <a:t>는 일시정지다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리눅스 로그는 </a:t>
            </a:r>
            <a:endParaRPr lang="en-US" altLang="ko-KR"/>
          </a:p>
          <a:p>
            <a:r>
              <a:rPr lang="en-US" altLang="ko-KR"/>
              <a:t>Kernel(</a:t>
            </a:r>
            <a:r>
              <a:rPr lang="ko-KR" altLang="en-US"/>
              <a:t>커널</a:t>
            </a:r>
            <a:r>
              <a:rPr lang="en-US" altLang="ko-KR"/>
              <a:t>): </a:t>
            </a:r>
            <a:r>
              <a:rPr lang="ko-KR" altLang="en-US"/>
              <a:t>하드웨어 결함</a:t>
            </a:r>
            <a:r>
              <a:rPr lang="en-US" altLang="ko-KR"/>
              <a:t>, </a:t>
            </a:r>
            <a:r>
              <a:rPr lang="ko-KR" altLang="en-US"/>
              <a:t>시스템 마운트</a:t>
            </a:r>
            <a:r>
              <a:rPr lang="en-US" altLang="ko-KR"/>
              <a:t>/</a:t>
            </a:r>
            <a:r>
              <a:rPr lang="ko-KR" altLang="en-US"/>
              <a:t>언마운트 같은 심각한 일 </a:t>
            </a:r>
            <a:r>
              <a:rPr lang="en-US" altLang="ko-KR"/>
              <a:t>(syslog)</a:t>
            </a:r>
          </a:p>
          <a:p>
            <a:r>
              <a:rPr lang="en-US" altLang="ko-KR"/>
              <a:t>Notice/Info/Debug: </a:t>
            </a:r>
            <a:r>
              <a:rPr lang="ko-KR" altLang="en-US"/>
              <a:t>일반적인 동작으로 구분해서 저장함</a:t>
            </a:r>
            <a:r>
              <a:rPr lang="en-US" altLang="ko-KR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837218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784F-BE11-E8A7-C1AA-30DCA412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F2ADE-19DF-8604-7708-92BD0A4DF997}"/>
              </a:ext>
            </a:extLst>
          </p:cNvPr>
          <p:cNvSpPr txBox="1"/>
          <p:nvPr/>
        </p:nvSpPr>
        <p:spPr>
          <a:xfrm>
            <a:off x="0" y="-1"/>
            <a:ext cx="782854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cron (</a:t>
            </a:r>
            <a:r>
              <a:rPr lang="ko-KR" altLang="en-US"/>
              <a:t>작업자동화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* * * * * (</a:t>
            </a:r>
            <a:r>
              <a:rPr lang="ko-KR" altLang="en-US"/>
              <a:t>분</a:t>
            </a:r>
            <a:r>
              <a:rPr lang="en-US" altLang="ko-KR"/>
              <a:t>, </a:t>
            </a:r>
            <a:r>
              <a:rPr lang="ko-KR" altLang="en-US"/>
              <a:t>시</a:t>
            </a:r>
            <a:r>
              <a:rPr lang="en-US" altLang="ko-KR"/>
              <a:t>, </a:t>
            </a:r>
            <a:r>
              <a:rPr lang="ko-KR" altLang="en-US"/>
              <a:t>일</a:t>
            </a:r>
            <a:r>
              <a:rPr lang="en-US" altLang="ko-KR"/>
              <a:t>, </a:t>
            </a:r>
            <a:r>
              <a:rPr lang="ko-KR" altLang="en-US"/>
              <a:t>월</a:t>
            </a:r>
            <a:r>
              <a:rPr lang="en-US" altLang="ko-KR"/>
              <a:t>, </a:t>
            </a:r>
            <a:r>
              <a:rPr lang="ko-KR" altLang="en-US"/>
              <a:t>요일</a:t>
            </a:r>
            <a:r>
              <a:rPr lang="en-US" altLang="ko-KR"/>
              <a:t>)</a:t>
            </a:r>
          </a:p>
          <a:p>
            <a:r>
              <a:rPr lang="en-US" altLang="ko-KR"/>
              <a:t>0 3 * * *: </a:t>
            </a:r>
            <a:r>
              <a:rPr lang="ko-KR" altLang="en-US"/>
              <a:t>매일 새벽 </a:t>
            </a:r>
            <a:r>
              <a:rPr lang="en-US" altLang="ko-KR"/>
              <a:t>3</a:t>
            </a:r>
            <a:r>
              <a:rPr lang="ko-KR" altLang="en-US"/>
              <a:t>시 </a:t>
            </a:r>
            <a:r>
              <a:rPr lang="en-US" altLang="ko-KR"/>
              <a:t>0</a:t>
            </a:r>
            <a:r>
              <a:rPr lang="ko-KR" altLang="en-US"/>
              <a:t>분에 실행</a:t>
            </a:r>
            <a:r>
              <a:rPr lang="en-US" altLang="ko-KR"/>
              <a:t>.</a:t>
            </a:r>
          </a:p>
          <a:p>
            <a:r>
              <a:rPr lang="en-US" altLang="ko-KR"/>
              <a:t>*/10 * * * *: 10</a:t>
            </a:r>
            <a:r>
              <a:rPr lang="ko-KR" altLang="en-US"/>
              <a:t>분마다 실행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crontab –e</a:t>
            </a:r>
          </a:p>
          <a:p>
            <a:r>
              <a:rPr lang="ko-KR" altLang="en-US"/>
              <a:t>이걸로 설정창을 열 수 있다</a:t>
            </a:r>
            <a:r>
              <a:rPr lang="en-US" altLang="ko-KR"/>
              <a:t>. </a:t>
            </a:r>
            <a:r>
              <a:rPr lang="ko-KR" altLang="en-US"/>
              <a:t>가장 쓰기 쉬운 </a:t>
            </a:r>
            <a:r>
              <a:rPr lang="en-US" altLang="ko-KR"/>
              <a:t>nano(1</a:t>
            </a:r>
            <a:r>
              <a:rPr lang="ko-KR" altLang="en-US"/>
              <a:t>번</a:t>
            </a:r>
            <a:r>
              <a:rPr lang="en-US" altLang="ko-KR"/>
              <a:t>)</a:t>
            </a:r>
            <a:r>
              <a:rPr lang="ko-KR" altLang="en-US"/>
              <a:t>을 사용하자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* * * * * date &gt;&gt; /home/dimo0121/my-first-study/time_log.txt</a:t>
            </a:r>
          </a:p>
          <a:p>
            <a:r>
              <a:rPr lang="ko-KR" altLang="en-US"/>
              <a:t>매 분마다 현재 날짜</a:t>
            </a:r>
            <a:r>
              <a:rPr lang="en-US" altLang="ko-KR"/>
              <a:t>/</a:t>
            </a:r>
            <a:r>
              <a:rPr lang="ko-KR" altLang="en-US"/>
              <a:t>시간을 가져와서 파일에 기록하라</a:t>
            </a:r>
            <a:r>
              <a:rPr lang="en-US" altLang="ko-KR"/>
              <a:t>.</a:t>
            </a:r>
          </a:p>
          <a:p>
            <a:r>
              <a:rPr lang="en-US" altLang="ko-KR"/>
              <a:t>Ctrl + O (</a:t>
            </a:r>
            <a:r>
              <a:rPr lang="ko-KR" altLang="en-US"/>
              <a:t>파일 저장</a:t>
            </a:r>
            <a:r>
              <a:rPr lang="en-US" altLang="ko-KR"/>
              <a:t>) -&gt; Enter (</a:t>
            </a:r>
            <a:r>
              <a:rPr lang="ko-KR" altLang="en-US"/>
              <a:t>파일 이름 확인</a:t>
            </a:r>
            <a:r>
              <a:rPr lang="en-US" altLang="ko-KR"/>
              <a:t>)</a:t>
            </a:r>
          </a:p>
          <a:p>
            <a:r>
              <a:rPr lang="en-US" altLang="ko-KR"/>
              <a:t>Ctrl + X (</a:t>
            </a:r>
            <a:r>
              <a:rPr lang="ko-KR" altLang="en-US"/>
              <a:t>에디터 종료</a:t>
            </a:r>
            <a:r>
              <a:rPr lang="en-US" altLang="ko-KR"/>
              <a:t>)</a:t>
            </a:r>
          </a:p>
          <a:p>
            <a:r>
              <a:rPr lang="en-US" altLang="ko-KR"/>
              <a:t>Ctrl + W (</a:t>
            </a:r>
            <a:r>
              <a:rPr lang="ko-KR" altLang="en-US"/>
              <a:t>검색어 검색</a:t>
            </a:r>
            <a:r>
              <a:rPr lang="en-US" altLang="ko-KR"/>
              <a:t>, </a:t>
            </a:r>
            <a:r>
              <a:rPr lang="ko-KR" altLang="en-US"/>
              <a:t>컨에프랑 같은 기능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ko-KR" altLang="en-US"/>
              <a:t>취소하고 싶다면 주석처리하면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nano my_script.sh (</a:t>
            </a:r>
            <a:r>
              <a:rPr lang="ko-KR" altLang="en-US"/>
              <a:t>스크립트 제작</a:t>
            </a:r>
            <a:r>
              <a:rPr lang="en-US" altLang="ko-KR"/>
              <a:t>)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483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8C786-EDEA-4A48-6638-A6D4CD6D8DC8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#!/bin/bash </a:t>
            </a:r>
          </a:p>
          <a:p>
            <a:r>
              <a:rPr lang="en-US" altLang="ko-KR"/>
              <a:t>echo "--- </a:t>
            </a:r>
            <a:r>
              <a:rPr lang="ko-KR" altLang="en-US"/>
              <a:t>시스템 점검을 시작합니다 </a:t>
            </a:r>
            <a:r>
              <a:rPr lang="en-US" altLang="ko-KR"/>
              <a:t>---" </a:t>
            </a:r>
          </a:p>
          <a:p>
            <a:r>
              <a:rPr lang="en-US" altLang="ko-KR"/>
              <a:t>echo "</a:t>
            </a:r>
            <a:r>
              <a:rPr lang="ko-KR" altLang="en-US"/>
              <a:t>현재 시간</a:t>
            </a:r>
            <a:r>
              <a:rPr lang="en-US" altLang="ko-KR"/>
              <a:t>: $(date)" </a:t>
            </a:r>
          </a:p>
          <a:p>
            <a:r>
              <a:rPr lang="en-US" altLang="ko-KR"/>
              <a:t>echo "</a:t>
            </a:r>
            <a:r>
              <a:rPr lang="ko-KR" altLang="en-US"/>
              <a:t>현재 서버의 디스크 상태</a:t>
            </a:r>
            <a:r>
              <a:rPr lang="en-US" altLang="ko-KR"/>
              <a:t>:" </a:t>
            </a:r>
          </a:p>
          <a:p>
            <a:r>
              <a:rPr lang="en-US" altLang="ko-KR"/>
              <a:t>df -h | grep /dev/ #(</a:t>
            </a:r>
            <a:r>
              <a:rPr lang="ko-KR" altLang="en-US"/>
              <a:t>디스크 용량 보여줌</a:t>
            </a:r>
            <a:r>
              <a:rPr lang="en-US" altLang="ko-KR"/>
              <a:t>.)</a:t>
            </a:r>
          </a:p>
          <a:p>
            <a:r>
              <a:rPr lang="en-US" altLang="ko-KR"/>
              <a:t>echo "--- </a:t>
            </a:r>
            <a:r>
              <a:rPr lang="ko-KR" altLang="en-US"/>
              <a:t>점검 완료 </a:t>
            </a:r>
            <a:r>
              <a:rPr lang="en-US" altLang="ko-KR"/>
              <a:t>---“</a:t>
            </a:r>
          </a:p>
          <a:p>
            <a:endParaRPr lang="en-US" altLang="ko-KR"/>
          </a:p>
          <a:p>
            <a:r>
              <a:rPr lang="en-US" altLang="ko-KR"/>
              <a:t>Shell(</a:t>
            </a:r>
            <a:r>
              <a:rPr lang="ko-KR" altLang="en-US"/>
              <a:t>쉘</a:t>
            </a:r>
            <a:r>
              <a:rPr lang="en-US" altLang="ko-KR"/>
              <a:t>)</a:t>
            </a:r>
            <a:r>
              <a:rPr lang="ko-KR" altLang="en-US"/>
              <a:t>이란</a:t>
            </a:r>
            <a:r>
              <a:rPr lang="en-US" altLang="ko-KR"/>
              <a:t>? </a:t>
            </a:r>
            <a:r>
              <a:rPr lang="ko-KR" altLang="en-US"/>
              <a:t>컴퓨터의 가장 안쪽 하드웨어를 직접 제어하는 커널</a:t>
            </a:r>
            <a:r>
              <a:rPr lang="en-US" altLang="ko-KR"/>
              <a:t>(Kernel) </a:t>
            </a:r>
            <a:r>
              <a:rPr lang="ko-KR" altLang="en-US"/>
              <a:t>존재</a:t>
            </a:r>
            <a:r>
              <a:rPr lang="en-US" altLang="ko-KR"/>
              <a:t>, </a:t>
            </a:r>
          </a:p>
          <a:p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커널과 직접 소통하기는 어렵기 때문에 그 겉을 감싸고 잇는 껍데기</a:t>
            </a:r>
            <a:r>
              <a:rPr lang="en-US" altLang="ko-KR"/>
              <a:t>(Shell)</a:t>
            </a:r>
            <a:r>
              <a:rPr lang="ko-KR" altLang="en-US"/>
              <a:t>이 중간에서 사람의 명령어를 받아</a:t>
            </a:r>
            <a:endParaRPr lang="en-US" altLang="ko-KR"/>
          </a:p>
          <a:p>
            <a:r>
              <a:rPr lang="ko-KR" altLang="en-US"/>
              <a:t>커널에게 전달해주는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Bash</a:t>
            </a:r>
            <a:r>
              <a:rPr lang="ko-KR" altLang="en-US"/>
              <a:t>는 리눅스 표준으로 어디든 다 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#! (</a:t>
            </a:r>
            <a:r>
              <a:rPr lang="ko-KR" altLang="en-US"/>
              <a:t>지금부터 적는 경로에 있는 프로그램으로 이 파일을 실행하라</a:t>
            </a:r>
            <a:r>
              <a:rPr lang="en-US" altLang="ko-KR"/>
              <a:t>), /bin/bash (Bash </a:t>
            </a:r>
            <a:r>
              <a:rPr lang="ko-KR" altLang="en-US"/>
              <a:t>불러와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40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1773</Words>
  <Application>Microsoft Office PowerPoint</Application>
  <PresentationFormat>와이드스크린</PresentationFormat>
  <Paragraphs>201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 ko</dc:creator>
  <cp:lastModifiedBy>ap ko</cp:lastModifiedBy>
  <cp:revision>55</cp:revision>
  <dcterms:created xsi:type="dcterms:W3CDTF">2026-07-09T14:04:26Z</dcterms:created>
  <dcterms:modified xsi:type="dcterms:W3CDTF">2026-07-20T05:40:21Z</dcterms:modified>
</cp:coreProperties>
</file>